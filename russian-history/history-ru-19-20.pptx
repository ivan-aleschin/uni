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7388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171907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3685386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2885358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054555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49537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98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276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4268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899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963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034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4802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216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8637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2698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467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250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179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429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9341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041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617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4509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311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303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3756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2C4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471846" name="Shape 0"/>
          <p:cNvSpPr/>
          <p:nvPr/>
        </p:nvSpPr>
        <p:spPr bwMode="auto">
          <a:xfrm>
            <a:off x="0" y="3474720"/>
            <a:ext cx="9144000" cy="1668780"/>
          </a:xfrm>
          <a:prstGeom prst="rect">
            <a:avLst/>
          </a:prstGeom>
          <a:solidFill>
            <a:srgbClr val="14253E"/>
          </a:solidFill>
          <a:ln w="12700">
            <a:solidFill>
              <a:srgbClr val="14253E"/>
            </a:solidFill>
            <a:prstDash val="solid"/>
          </a:ln>
        </p:spPr>
      </p:sp>
      <p:sp>
        <p:nvSpPr>
          <p:cNvPr id="969761665" name="Shape 1"/>
          <p:cNvSpPr/>
          <p:nvPr/>
        </p:nvSpPr>
        <p:spPr bwMode="auto">
          <a:xfrm>
            <a:off x="0" y="3429000"/>
            <a:ext cx="9144000" cy="54864"/>
          </a:xfrm>
          <a:prstGeom prst="rect">
            <a:avLst/>
          </a:prstGeom>
          <a:solidFill>
            <a:srgbClr val="4A9CC7"/>
          </a:solidFill>
          <a:ln w="12700">
            <a:solidFill>
              <a:srgbClr val="4A9CC7"/>
            </a:solidFill>
            <a:prstDash val="solid"/>
          </a:ln>
        </p:spPr>
      </p:sp>
      <p:sp>
        <p:nvSpPr>
          <p:cNvPr id="788557320" name="Shape 2"/>
          <p:cNvSpPr/>
          <p:nvPr/>
        </p:nvSpPr>
        <p:spPr bwMode="auto">
          <a:xfrm>
            <a:off x="457200" y="4114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4A9CC7"/>
          </a:solidFill>
          <a:ln w="12700">
            <a:solidFill>
              <a:srgbClr val="4A9CC7"/>
            </a:solidFill>
            <a:prstDash val="solid"/>
          </a:ln>
        </p:spPr>
      </p:sp>
      <p:sp>
        <p:nvSpPr>
          <p:cNvPr id="1238784629" name="Text 3"/>
          <p:cNvSpPr/>
          <p:nvPr/>
        </p:nvSpPr>
        <p:spPr bwMode="auto">
          <a:xfrm>
            <a:off x="457200" y="411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</a:rPr>
              <a:t>1904</a:t>
            </a:r>
            <a:endParaRPr lang="en-US" sz="1500"/>
          </a:p>
        </p:txBody>
      </p:sp>
      <p:sp>
        <p:nvSpPr>
          <p:cNvPr id="381395642" name="Text 4"/>
          <p:cNvSpPr/>
          <p:nvPr/>
        </p:nvSpPr>
        <p:spPr bwMode="auto">
          <a:xfrm>
            <a:off x="457200" y="896112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4400" b="1" spc="1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Железная дорога</a:t>
            </a:r>
            <a:endParaRPr lang="en-US" sz="4400"/>
          </a:p>
          <a:p>
            <a:pPr marL="0" indent="0" algn="l">
              <a:buNone/>
              <a:defRPr/>
            </a:pPr>
            <a:r>
              <a:rPr lang="en-US" sz="4400" b="1" spc="1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на льду Байкала</a:t>
            </a:r>
            <a:endParaRPr lang="en-US" sz="4400"/>
          </a:p>
        </p:txBody>
      </p:sp>
      <p:sp>
        <p:nvSpPr>
          <p:cNvPr id="1896670911" name="Text 5"/>
          <p:cNvSpPr/>
          <p:nvPr/>
        </p:nvSpPr>
        <p:spPr bwMode="auto">
          <a:xfrm>
            <a:off x="457200" y="36576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700">
                <a:solidFill>
                  <a:srgbClr val="C8DCEF"/>
                </a:solidFill>
                <a:latin typeface="Calibri"/>
                <a:ea typeface="Calibri"/>
                <a:cs typeface="Calibri"/>
              </a:rPr>
              <a:t>Как Россия проложила рельсы по замёрзшему озеру</a:t>
            </a:r>
            <a:endParaRPr lang="en-US" sz="1700"/>
          </a:p>
        </p:txBody>
      </p:sp>
      <p:sp>
        <p:nvSpPr>
          <p:cNvPr id="1653253185" name="Text 6"/>
          <p:cNvSpPr/>
          <p:nvPr/>
        </p:nvSpPr>
        <p:spPr bwMode="auto"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ru-RU" sz="1100">
                <a:solidFill>
                  <a:srgbClr val="7A99B5"/>
                </a:solidFill>
                <a:latin typeface="Calibri"/>
                <a:ea typeface="Calibri"/>
                <a:cs typeface="Calibri"/>
              </a:rPr>
              <a:t>ПИН-31 Алешин И.К.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499401" name="Shape 0"/>
          <p:cNvSpPr/>
          <p:nvPr/>
        </p:nvSpPr>
        <p:spPr bwMode="auto">
          <a:xfrm>
            <a:off x="0" y="0"/>
            <a:ext cx="3291840" cy="51435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803871447" name="Text 1"/>
          <p:cNvSpPr/>
          <p:nvPr/>
        </p:nvSpPr>
        <p:spPr bwMode="auto">
          <a:xfrm>
            <a:off x="182880" y="228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4A9CC7"/>
                </a:solidFill>
              </a:rPr>
              <a:t>02</a:t>
            </a:r>
            <a:endParaRPr lang="en-US" sz="1100"/>
          </a:p>
        </p:txBody>
      </p:sp>
      <p:sp>
        <p:nvSpPr>
          <p:cNvPr id="478346004" name="Text 2"/>
          <p:cNvSpPr/>
          <p:nvPr/>
        </p:nvSpPr>
        <p:spPr bwMode="auto">
          <a:xfrm>
            <a:off x="182880" y="7315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Великий</a:t>
            </a:r>
            <a:endParaRPr lang="en-US" sz="3000"/>
          </a:p>
          <a:p>
            <a:pPr marL="0" indent="0" algn="l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Транссиб</a:t>
            </a:r>
            <a:endParaRPr lang="en-US" sz="3000"/>
          </a:p>
        </p:txBody>
      </p:sp>
      <p:sp>
        <p:nvSpPr>
          <p:cNvPr id="412837209" name="Text 3"/>
          <p:cNvSpPr/>
          <p:nvPr/>
        </p:nvSpPr>
        <p:spPr bwMode="auto">
          <a:xfrm>
            <a:off x="18288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C8DCEF"/>
                </a:solidFill>
              </a:rPr>
              <a:t>9 288 км пути</a:t>
            </a:r>
            <a:endParaRPr lang="en-US" sz="1300"/>
          </a:p>
          <a:p>
            <a:pPr marL="0" indent="0" algn="l">
              <a:buNone/>
              <a:defRPr/>
            </a:pPr>
            <a:r>
              <a:rPr lang="en-US" sz="1300">
                <a:solidFill>
                  <a:srgbClr val="C8DCEF"/>
                </a:solidFill>
              </a:rPr>
              <a:t>от Москвы до Владивостока</a:t>
            </a:r>
            <a:endParaRPr lang="en-US" sz="1300"/>
          </a:p>
        </p:txBody>
      </p:sp>
      <p:sp>
        <p:nvSpPr>
          <p:cNvPr id="569033673" name="Text 4"/>
          <p:cNvSpPr/>
          <p:nvPr/>
        </p:nvSpPr>
        <p:spPr bwMode="auto">
          <a:xfrm>
            <a:off x="182880" y="32461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7A99B5"/>
                </a:solidFill>
              </a:rPr>
              <a:t>Стройка века.</a:t>
            </a:r>
            <a:endParaRPr lang="en-US" sz="1200"/>
          </a:p>
          <a:p>
            <a:pPr marL="0" indent="0" algn="l">
              <a:buNone/>
              <a:defRPr/>
            </a:pPr>
            <a:r>
              <a:rPr lang="en-US" sz="1200">
                <a:solidFill>
                  <a:srgbClr val="7A99B5"/>
                </a:solidFill>
              </a:rPr>
              <a:t>Начата в 1891 году</a:t>
            </a:r>
            <a:endParaRPr lang="en-US" sz="1200"/>
          </a:p>
          <a:p>
            <a:pPr marL="0" indent="0" algn="l">
              <a:buNone/>
              <a:defRPr/>
            </a:pPr>
            <a:r>
              <a:rPr lang="en-US" sz="1200">
                <a:solidFill>
                  <a:srgbClr val="7A99B5"/>
                </a:solidFill>
              </a:rPr>
              <a:t>по указу Александра III.</a:t>
            </a:r>
            <a:endParaRPr lang="en-US" sz="1200"/>
          </a:p>
        </p:txBody>
      </p:sp>
      <p:sp>
        <p:nvSpPr>
          <p:cNvPr id="1149372363" name="Text 5"/>
          <p:cNvSpPr/>
          <p:nvPr/>
        </p:nvSpPr>
        <p:spPr bwMode="auto">
          <a:xfrm>
            <a:off x="3566160" y="2743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1A2C4E"/>
                </a:solidFill>
                <a:latin typeface="Georgia"/>
                <a:ea typeface="Georgia"/>
                <a:cs typeface="Georgia"/>
              </a:rPr>
              <a:t>Почти готово… но есть одна проблема</a:t>
            </a:r>
            <a:endParaRPr lang="en-US" sz="2200"/>
          </a:p>
        </p:txBody>
      </p:sp>
      <p:sp>
        <p:nvSpPr>
          <p:cNvPr id="205521018" name="Shape 6"/>
          <p:cNvSpPr/>
          <p:nvPr/>
        </p:nvSpPr>
        <p:spPr bwMode="auto">
          <a:xfrm>
            <a:off x="3566160" y="1051560"/>
            <a:ext cx="5303520" cy="77724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720855435" name="Text 7"/>
          <p:cNvSpPr/>
          <p:nvPr/>
        </p:nvSpPr>
        <p:spPr bwMode="auto">
          <a:xfrm>
            <a:off x="3611880" y="10515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sp>
        <p:nvSpPr>
          <p:cNvPr id="1362683194" name="Text 8"/>
          <p:cNvSpPr/>
          <p:nvPr/>
        </p:nvSpPr>
        <p:spPr bwMode="auto">
          <a:xfrm>
            <a:off x="4114800" y="10972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C4E"/>
                </a:solidFill>
              </a:rPr>
              <a:t>К 1900 году  </a:t>
            </a:r>
            <a:r>
              <a:rPr lang="en-US" sz="1300">
                <a:solidFill>
                  <a:srgbClr val="444444"/>
                </a:solidFill>
              </a:rPr>
              <a:t>дорога почти построена. Осталось замкнуть последний участок.</a:t>
            </a:r>
            <a:endParaRPr lang="en-US" sz="1300"/>
          </a:p>
        </p:txBody>
      </p:sp>
      <p:sp>
        <p:nvSpPr>
          <p:cNvPr id="153887729" name="Shape 9"/>
          <p:cNvSpPr/>
          <p:nvPr/>
        </p:nvSpPr>
        <p:spPr bwMode="auto">
          <a:xfrm>
            <a:off x="3566160" y="19659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1021493959" name="Text 10"/>
          <p:cNvSpPr/>
          <p:nvPr/>
        </p:nvSpPr>
        <p:spPr bwMode="auto">
          <a:xfrm>
            <a:off x="3611880" y="19659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sp>
        <p:nvSpPr>
          <p:cNvPr id="2327872" name="Text 11"/>
          <p:cNvSpPr/>
          <p:nvPr/>
        </p:nvSpPr>
        <p:spPr bwMode="auto">
          <a:xfrm>
            <a:off x="4114800" y="20116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C4E"/>
                </a:solidFill>
              </a:rPr>
              <a:t>Байкал  </a:t>
            </a:r>
            <a:r>
              <a:rPr lang="en-US" sz="1300">
                <a:solidFill>
                  <a:srgbClr val="444444"/>
                </a:solidFill>
              </a:rPr>
              <a:t>Между станциями Байкал и Мысовая — 70 километров воды.</a:t>
            </a:r>
            <a:endParaRPr lang="en-US" sz="1300"/>
          </a:p>
        </p:txBody>
      </p:sp>
      <p:sp>
        <p:nvSpPr>
          <p:cNvPr id="1036575493" name="Shape 12"/>
          <p:cNvSpPr/>
          <p:nvPr/>
        </p:nvSpPr>
        <p:spPr bwMode="auto">
          <a:xfrm>
            <a:off x="3566160" y="2880360"/>
            <a:ext cx="5303520" cy="77724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54118484" name="Text 13"/>
          <p:cNvSpPr/>
          <p:nvPr/>
        </p:nvSpPr>
        <p:spPr bwMode="auto">
          <a:xfrm>
            <a:off x="3611880" y="28803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sp>
        <p:nvSpPr>
          <p:cNvPr id="128327950" name="Text 14"/>
          <p:cNvSpPr/>
          <p:nvPr/>
        </p:nvSpPr>
        <p:spPr bwMode="auto">
          <a:xfrm>
            <a:off x="4114800" y="2926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C4E"/>
                </a:solidFill>
              </a:rPr>
              <a:t>Обходной путь  </a:t>
            </a:r>
            <a:r>
              <a:rPr lang="en-US" sz="1300">
                <a:solidFill>
                  <a:srgbClr val="444444"/>
                </a:solidFill>
              </a:rPr>
              <a:t>Строится, но это горы и скалы — работы займут ещё годы.</a:t>
            </a:r>
            <a:endParaRPr lang="en-US" sz="1300"/>
          </a:p>
        </p:txBody>
      </p:sp>
      <p:sp>
        <p:nvSpPr>
          <p:cNvPr id="2131747100" name="Shape 15"/>
          <p:cNvSpPr/>
          <p:nvPr/>
        </p:nvSpPr>
        <p:spPr bwMode="auto">
          <a:xfrm>
            <a:off x="3566160" y="37947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</p:spPr>
      </p:sp>
      <p:sp>
        <p:nvSpPr>
          <p:cNvPr id="2012845924" name="Text 16"/>
          <p:cNvSpPr/>
          <p:nvPr/>
        </p:nvSpPr>
        <p:spPr bwMode="auto">
          <a:xfrm>
            <a:off x="3611880" y="37947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800"/>
          </a:p>
        </p:txBody>
      </p:sp>
      <p:sp>
        <p:nvSpPr>
          <p:cNvPr id="1098587221" name="Text 17"/>
          <p:cNvSpPr/>
          <p:nvPr/>
        </p:nvSpPr>
        <p:spPr bwMode="auto">
          <a:xfrm>
            <a:off x="4114800" y="38404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C4E"/>
                </a:solidFill>
              </a:rPr>
              <a:t>Пока что  </a:t>
            </a:r>
            <a:r>
              <a:rPr lang="en-US" sz="1300">
                <a:solidFill>
                  <a:srgbClr val="444444"/>
                </a:solidFill>
              </a:rPr>
              <a:t>Грузы и пассажиров перевозят на пароме. Медленно. Дорого.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EBF4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76338" name="Text 0"/>
          <p:cNvSpPr/>
          <p:nvPr/>
        </p:nvSpPr>
        <p:spPr bwMode="auto"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A9CC7"/>
                </a:solidFill>
              </a:rPr>
              <a:t>03</a:t>
            </a:r>
            <a:endParaRPr lang="en-US" sz="1100"/>
          </a:p>
        </p:txBody>
      </p:sp>
      <p:sp>
        <p:nvSpPr>
          <p:cNvPr id="509874826" name="Text 1"/>
          <p:cNvSpPr/>
          <p:nvPr/>
        </p:nvSpPr>
        <p:spPr bwMode="auto"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A2C4E"/>
                </a:solidFill>
                <a:latin typeface="Georgia"/>
                <a:ea typeface="Georgia"/>
                <a:cs typeface="Georgia"/>
              </a:rPr>
              <a:t>Паром «Байкал»: герой и узкое место</a:t>
            </a:r>
            <a:endParaRPr lang="en-US" sz="2600"/>
          </a:p>
        </p:txBody>
      </p:sp>
      <p:sp>
        <p:nvSpPr>
          <p:cNvPr id="1957531154" name="Shape 2"/>
          <p:cNvSpPr/>
          <p:nvPr/>
        </p:nvSpPr>
        <p:spPr bwMode="auto">
          <a:xfrm flipH="0" flipV="0">
            <a:off x="365759" y="1325880"/>
            <a:ext cx="4114800" cy="167593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726978489" name="Shape 3"/>
          <p:cNvSpPr/>
          <p:nvPr/>
        </p:nvSpPr>
        <p:spPr bwMode="auto">
          <a:xfrm>
            <a:off x="365760" y="1325880"/>
            <a:ext cx="4114800" cy="365760"/>
          </a:xfrm>
          <a:prstGeom prst="rect">
            <a:avLst/>
          </a:prstGeom>
          <a:solidFill>
            <a:srgbClr val="4A9CC7"/>
          </a:solidFill>
          <a:ln w="12700">
            <a:solidFill>
              <a:srgbClr val="4A9CC7"/>
            </a:solidFill>
            <a:prstDash val="solid"/>
          </a:ln>
        </p:spPr>
      </p:sp>
      <p:sp>
        <p:nvSpPr>
          <p:cNvPr id="744129388" name="Text 4"/>
          <p:cNvSpPr/>
          <p:nvPr/>
        </p:nvSpPr>
        <p:spPr bwMode="auto">
          <a:xfrm>
            <a:off x="45720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☀️  Летом </a:t>
            </a:r>
            <a:endParaRPr lang="en-US" sz="1300"/>
          </a:p>
        </p:txBody>
      </p:sp>
      <p:sp>
        <p:nvSpPr>
          <p:cNvPr id="563526659" name="Text 5"/>
          <p:cNvSpPr/>
          <p:nvPr/>
        </p:nvSpPr>
        <p:spPr bwMode="auto">
          <a:xfrm>
            <a:off x="548640" y="182880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33333"/>
                </a:solidFill>
              </a:rPr>
              <a:t>Паром «Байкал» — гигант своего времени.</a:t>
            </a:r>
            <a:br>
              <a:rPr lang="en-US" sz="1300" b="1">
                <a:solidFill>
                  <a:srgbClr val="333333"/>
                </a:solidFill>
              </a:rPr>
            </a:br>
            <a:r>
              <a:rPr lang="en-US" sz="1300">
                <a:solidFill>
                  <a:srgbClr val="333333"/>
                </a:solidFill>
              </a:rPr>
              <a:t>Длина 88 м, мощность — как у крейсера. Он буквально перевозил целые поезда на борту — вагоны заезжали по рельсам прямо внутрь парома. Летом переправа занимала 3–4 часа.</a:t>
            </a:r>
            <a:endParaRPr lang="en-US" sz="1300"/>
          </a:p>
        </p:txBody>
      </p:sp>
      <p:sp>
        <p:nvSpPr>
          <p:cNvPr id="611684051" name="Shape 6"/>
          <p:cNvSpPr/>
          <p:nvPr/>
        </p:nvSpPr>
        <p:spPr bwMode="auto">
          <a:xfrm flipH="0" flipV="0">
            <a:off x="365759" y="3158316"/>
            <a:ext cx="4114800" cy="159656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523419883" name="Shape 7"/>
          <p:cNvSpPr/>
          <p:nvPr/>
        </p:nvSpPr>
        <p:spPr bwMode="auto">
          <a:xfrm>
            <a:off x="365759" y="3158316"/>
            <a:ext cx="4114800" cy="36576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64422757" name="Text 8"/>
          <p:cNvSpPr/>
          <p:nvPr/>
        </p:nvSpPr>
        <p:spPr bwMode="auto">
          <a:xfrm>
            <a:off x="457200" y="31583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❄️  Зимой </a:t>
            </a:r>
            <a:endParaRPr lang="en-US" sz="1300"/>
          </a:p>
        </p:txBody>
      </p:sp>
      <p:sp>
        <p:nvSpPr>
          <p:cNvPr id="852630528" name="Text 9"/>
          <p:cNvSpPr/>
          <p:nvPr/>
        </p:nvSpPr>
        <p:spPr bwMode="auto">
          <a:xfrm>
            <a:off x="457200" y="3661236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33333"/>
                </a:solidFill>
              </a:rPr>
              <a:t>Байкал промерзает на 1–1.5 метра.</a:t>
            </a:r>
            <a:br>
              <a:rPr lang="en-US" sz="1300" b="1">
                <a:solidFill>
                  <a:srgbClr val="333333"/>
                </a:solidFill>
              </a:rPr>
            </a:br>
            <a:r>
              <a:rPr lang="en-US" sz="1300">
                <a:solidFill>
                  <a:srgbClr val="333333"/>
                </a:solidFill>
              </a:rPr>
              <a:t>Лёд слишком толстый и крепкий — паром не может пробиться. Переправа встаёт. Единственный способ — нарты, лошади и пешком. Грузы копятся, расписание рушится.</a:t>
            </a:r>
            <a:endParaRPr lang="en-US" sz="1300"/>
          </a:p>
        </p:txBody>
      </p:sp>
      <p:pic>
        <p:nvPicPr>
          <p:cNvPr id="107804725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41874" y="1406380"/>
            <a:ext cx="4114800" cy="3190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1A2C4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394734" name="Text 0"/>
          <p:cNvSpPr/>
          <p:nvPr/>
        </p:nvSpPr>
        <p:spPr bwMode="auto"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A9CC7"/>
                </a:solidFill>
              </a:rPr>
              <a:t>04</a:t>
            </a:r>
            <a:endParaRPr lang="en-US" sz="1100"/>
          </a:p>
        </p:txBody>
      </p:sp>
      <p:sp>
        <p:nvSpPr>
          <p:cNvPr id="994449172" name="Text 1"/>
          <p:cNvSpPr/>
          <p:nvPr/>
        </p:nvSpPr>
        <p:spPr bwMode="auto">
          <a:xfrm>
            <a:off x="365760" y="4572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Январь 1904 года.</a:t>
            </a:r>
            <a:endParaRPr lang="en-US" sz="3200"/>
          </a:p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Всё меняется за одну ночь.</a:t>
            </a:r>
            <a:endParaRPr lang="en-US" sz="3200"/>
          </a:p>
        </p:txBody>
      </p:sp>
      <p:sp>
        <p:nvSpPr>
          <p:cNvPr id="2102612165" name="Shape 2"/>
          <p:cNvSpPr/>
          <p:nvPr/>
        </p:nvSpPr>
        <p:spPr bwMode="auto">
          <a:xfrm>
            <a:off x="365760" y="1874520"/>
            <a:ext cx="54864" cy="2560320"/>
          </a:xfrm>
          <a:prstGeom prst="rect">
            <a:avLst/>
          </a:prstGeom>
          <a:solidFill>
            <a:srgbClr val="4A9CC7"/>
          </a:solidFill>
          <a:ln w="12700">
            <a:solidFill>
              <a:srgbClr val="4A9CC7"/>
            </a:solidFill>
            <a:prstDash val="solid"/>
          </a:ln>
        </p:spPr>
      </p:sp>
      <p:sp>
        <p:nvSpPr>
          <p:cNvPr id="2014409570" name="Text 3"/>
          <p:cNvSpPr/>
          <p:nvPr/>
        </p:nvSpPr>
        <p:spPr bwMode="auto">
          <a:xfrm>
            <a:off x="594360" y="1874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4A9CC7"/>
                </a:solidFill>
              </a:rPr>
              <a:t>27 января 1904</a:t>
            </a:r>
            <a:endParaRPr lang="en-US" sz="1300"/>
          </a:p>
        </p:txBody>
      </p:sp>
      <p:sp>
        <p:nvSpPr>
          <p:cNvPr id="1019166563" name="Text 4"/>
          <p:cNvSpPr/>
          <p:nvPr/>
        </p:nvSpPr>
        <p:spPr bwMode="auto">
          <a:xfrm>
            <a:off x="594360" y="2167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8DCEF"/>
                </a:solidFill>
              </a:rPr>
              <a:t>Японский флот без объявления войны атакует русскую эскадру в Порт-Артуре. Начинается Русско-японская война.</a:t>
            </a:r>
            <a:endParaRPr lang="en-US" sz="1300"/>
          </a:p>
        </p:txBody>
      </p:sp>
      <p:sp>
        <p:nvSpPr>
          <p:cNvPr id="1946311351" name="Text 5"/>
          <p:cNvSpPr/>
          <p:nvPr/>
        </p:nvSpPr>
        <p:spPr bwMode="auto">
          <a:xfrm>
            <a:off x="594360" y="2743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4A9CC7"/>
                </a:solidFill>
              </a:rPr>
              <a:t>Проблема</a:t>
            </a:r>
            <a:endParaRPr lang="en-US" sz="1300"/>
          </a:p>
        </p:txBody>
      </p:sp>
      <p:sp>
        <p:nvSpPr>
          <p:cNvPr id="1869332312" name="Text 6"/>
          <p:cNvSpPr/>
          <p:nvPr/>
        </p:nvSpPr>
        <p:spPr bwMode="auto">
          <a:xfrm>
            <a:off x="594360" y="3035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8DCEF"/>
                </a:solidFill>
              </a:rPr>
              <a:t>Нужно срочно перебросить на Дальний Восток сотни тысяч солдат, пушки, снаряды, продовольствие. Всё — по единственному пути.</a:t>
            </a:r>
            <a:endParaRPr lang="en-US" sz="1300"/>
          </a:p>
        </p:txBody>
      </p:sp>
      <p:sp>
        <p:nvSpPr>
          <p:cNvPr id="30604614" name="Text 7"/>
          <p:cNvSpPr/>
          <p:nvPr/>
        </p:nvSpPr>
        <p:spPr bwMode="auto">
          <a:xfrm>
            <a:off x="594360" y="3611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4A9CC7"/>
                </a:solidFill>
              </a:rPr>
              <a:t>Узкое место</a:t>
            </a:r>
            <a:endParaRPr lang="en-US" sz="1300"/>
          </a:p>
        </p:txBody>
      </p:sp>
      <p:sp>
        <p:nvSpPr>
          <p:cNvPr id="1490971688" name="Text 8"/>
          <p:cNvSpPr/>
          <p:nvPr/>
        </p:nvSpPr>
        <p:spPr bwMode="auto">
          <a:xfrm>
            <a:off x="594360" y="3904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8DCEF"/>
                </a:solidFill>
              </a:rPr>
              <a:t>Байкал. Паром «Байкал» пробит льдом и не работает. Переправа стоит. Армия ждёт.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365277" name="Text 0"/>
          <p:cNvSpPr/>
          <p:nvPr/>
        </p:nvSpPr>
        <p:spPr bwMode="auto"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A9CC7"/>
                </a:solidFill>
              </a:rPr>
              <a:t>05</a:t>
            </a:r>
            <a:endParaRPr lang="en-US" sz="1100"/>
          </a:p>
        </p:txBody>
      </p:sp>
      <p:sp>
        <p:nvSpPr>
          <p:cNvPr id="1355196557" name="Text 1"/>
          <p:cNvSpPr/>
          <p:nvPr/>
        </p:nvSpPr>
        <p:spPr bwMode="auto"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A2C4E"/>
                </a:solidFill>
                <a:latin typeface="Georgia"/>
                <a:ea typeface="Georgia"/>
                <a:cs typeface="Georgia"/>
              </a:rPr>
              <a:t>Гениальное безумие:</a:t>
            </a:r>
            <a:endParaRPr lang="en-US" sz="2600"/>
          </a:p>
        </p:txBody>
      </p:sp>
      <p:sp>
        <p:nvSpPr>
          <p:cNvPr id="311028690" name="Text 15"/>
          <p:cNvSpPr/>
          <p:nvPr/>
        </p:nvSpPr>
        <p:spPr bwMode="auto">
          <a:xfrm flipH="0" flipV="0">
            <a:off x="365759" y="3644033"/>
            <a:ext cx="8683728" cy="932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333333"/>
                </a:solidFill>
              </a:rPr>
              <a:t>Инженер Белелюбский предлагает невозможное: </a:t>
            </a:r>
            <a:r>
              <a:rPr lang="en-US" sz="1400" b="1">
                <a:solidFill>
                  <a:srgbClr val="1A2C4E"/>
                </a:solidFill>
              </a:rPr>
              <a:t>вморозить шпалы прямо в байкальский лёд</a:t>
            </a:r>
            <a:r>
              <a:rPr lang="en-US" sz="1400">
                <a:solidFill>
                  <a:srgbClr val="333333"/>
                </a:solidFill>
              </a:rPr>
              <a:t> и проложить рельсы как обычную дорогу</a:t>
            </a:r>
            <a:r>
              <a:rPr lang="ru-RU" sz="1400">
                <a:solidFill>
                  <a:srgbClr val="333333"/>
                </a:solidFill>
              </a:rPr>
              <a:t> длиной в 40 км</a:t>
            </a:r>
            <a:r>
              <a:rPr lang="en-US" sz="1400">
                <a:solidFill>
                  <a:srgbClr val="333333"/>
                </a:solidFill>
              </a:rPr>
              <a:t>. Расстояние между рельсами — стандартное. Дорога — официальная, с телеграфными столбами вдоль пути.</a:t>
            </a:r>
            <a:r>
              <a:rPr lang="ru-RU" sz="1400">
                <a:solidFill>
                  <a:srgbClr val="333333"/>
                </a:solidFill>
              </a:rPr>
              <a:t> Постройка заняла несколько недель.</a:t>
            </a:r>
            <a:endParaRPr lang="en-US" sz="1400"/>
          </a:p>
        </p:txBody>
      </p:sp>
      <p:sp>
        <p:nvSpPr>
          <p:cNvPr id="163899161" name="Text 16"/>
          <p:cNvSpPr/>
          <p:nvPr/>
        </p:nvSpPr>
        <p:spPr bwMode="auto"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i="1">
                <a:solidFill>
                  <a:srgbClr val="7A99B5"/>
                </a:solidFill>
              </a:rPr>
              <a:t>[ ФОТО: исторический снимок — рельсы или шпалы на льду Байкала, 1904 ]</a:t>
            </a:r>
            <a:endParaRPr lang="en-US" sz="900"/>
          </a:p>
        </p:txBody>
      </p:sp>
      <p:pic>
        <p:nvPicPr>
          <p:cNvPr id="15705493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49775" y="1005840"/>
            <a:ext cx="5444447" cy="26970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EBF4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93418" name="Text 0"/>
          <p:cNvSpPr/>
          <p:nvPr/>
        </p:nvSpPr>
        <p:spPr bwMode="auto"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A9CC7"/>
                </a:solidFill>
              </a:rPr>
              <a:t>06</a:t>
            </a:r>
            <a:endParaRPr lang="en-US" sz="1100"/>
          </a:p>
        </p:txBody>
      </p:sp>
      <p:sp>
        <p:nvSpPr>
          <p:cNvPr id="1593733500" name="Text 1"/>
          <p:cNvSpPr/>
          <p:nvPr/>
        </p:nvSpPr>
        <p:spPr bwMode="auto"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1A2C4E"/>
                </a:solidFill>
                <a:latin typeface="Georgia"/>
                <a:ea typeface="Georgia"/>
                <a:cs typeface="Georgia"/>
              </a:rPr>
              <a:t>Как это работало на практике</a:t>
            </a:r>
            <a:endParaRPr lang="en-US" sz="2400"/>
          </a:p>
        </p:txBody>
      </p:sp>
      <p:sp>
        <p:nvSpPr>
          <p:cNvPr id="685105911" name="Shape 2"/>
          <p:cNvSpPr/>
          <p:nvPr/>
        </p:nvSpPr>
        <p:spPr bwMode="auto">
          <a:xfrm>
            <a:off x="36576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133541449" name="Text 3"/>
          <p:cNvSpPr/>
          <p:nvPr/>
        </p:nvSpPr>
        <p:spPr bwMode="auto">
          <a:xfrm>
            <a:off x="3657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2200"/>
          </a:p>
        </p:txBody>
      </p:sp>
      <p:sp>
        <p:nvSpPr>
          <p:cNvPr id="1223083289" name="Text 4"/>
          <p:cNvSpPr/>
          <p:nvPr/>
        </p:nvSpPr>
        <p:spPr bwMode="auto">
          <a:xfrm>
            <a:off x="1005840" y="13533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C4E"/>
                </a:solidFill>
              </a:rPr>
              <a:t>Вместо паровоза — лошади</a:t>
            </a:r>
            <a:endParaRPr lang="en-US" sz="1300"/>
          </a:p>
        </p:txBody>
      </p:sp>
      <p:sp>
        <p:nvSpPr>
          <p:cNvPr id="623612361" name="Text 5"/>
          <p:cNvSpPr/>
          <p:nvPr/>
        </p:nvSpPr>
        <p:spPr bwMode="auto">
          <a:xfrm>
            <a:off x="1005840" y="169164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</a:rPr>
              <a:t>Паровоз весил слишком много. Инженеры подсчитали: тяжёлый состав продавит лёд. Поэтому вагоны тащили лошади, а сами вагоны пускали с большими промежутками.</a:t>
            </a:r>
            <a:endParaRPr lang="en-US" sz="1100"/>
          </a:p>
        </p:txBody>
      </p:sp>
      <p:sp>
        <p:nvSpPr>
          <p:cNvPr id="294489302" name="Shape 6"/>
          <p:cNvSpPr/>
          <p:nvPr/>
        </p:nvSpPr>
        <p:spPr bwMode="auto">
          <a:xfrm>
            <a:off x="466344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49407457" name="Text 7"/>
          <p:cNvSpPr/>
          <p:nvPr/>
        </p:nvSpPr>
        <p:spPr bwMode="auto">
          <a:xfrm>
            <a:off x="46634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2200"/>
          </a:p>
        </p:txBody>
      </p:sp>
      <p:sp>
        <p:nvSpPr>
          <p:cNvPr id="1460991102" name="Text 8"/>
          <p:cNvSpPr/>
          <p:nvPr/>
        </p:nvSpPr>
        <p:spPr bwMode="auto">
          <a:xfrm>
            <a:off x="5303520" y="13533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C4E"/>
                </a:solidFill>
              </a:rPr>
              <a:t>Пассажиры шли пешком</a:t>
            </a:r>
            <a:endParaRPr lang="en-US" sz="1300"/>
          </a:p>
        </p:txBody>
      </p:sp>
      <p:sp>
        <p:nvSpPr>
          <p:cNvPr id="1172637245" name="Text 9"/>
          <p:cNvSpPr/>
          <p:nvPr/>
        </p:nvSpPr>
        <p:spPr bwMode="auto">
          <a:xfrm>
            <a:off x="5303520" y="169164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</a:rPr>
              <a:t>Пассажирам предлагали выйти из вагонов и пройти опасные участки на своих двоих — чтобы снизить нагрузку на лёд. Представьте: зима, -20, открытый Байкал...</a:t>
            </a:r>
            <a:endParaRPr lang="en-US" sz="1100"/>
          </a:p>
        </p:txBody>
      </p:sp>
      <p:sp>
        <p:nvSpPr>
          <p:cNvPr id="1125438571" name="Shape 10"/>
          <p:cNvSpPr/>
          <p:nvPr/>
        </p:nvSpPr>
        <p:spPr bwMode="auto">
          <a:xfrm>
            <a:off x="365760" y="29718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30838645" name="Text 11"/>
          <p:cNvSpPr/>
          <p:nvPr/>
        </p:nvSpPr>
        <p:spPr bwMode="auto">
          <a:xfrm>
            <a:off x="3657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2200"/>
          </a:p>
        </p:txBody>
      </p:sp>
      <p:sp>
        <p:nvSpPr>
          <p:cNvPr id="1937011019" name="Text 12"/>
          <p:cNvSpPr/>
          <p:nvPr/>
        </p:nvSpPr>
        <p:spPr bwMode="auto">
          <a:xfrm>
            <a:off x="1005840" y="31363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C4E"/>
                </a:solidFill>
              </a:rPr>
              <a:t>Лёд трескался</a:t>
            </a:r>
            <a:endParaRPr lang="en-US" sz="1300"/>
          </a:p>
        </p:txBody>
      </p:sp>
      <p:sp>
        <p:nvSpPr>
          <p:cNvPr id="2095305948" name="Text 13"/>
          <p:cNvSpPr/>
          <p:nvPr/>
        </p:nvSpPr>
        <p:spPr bwMode="auto">
          <a:xfrm>
            <a:off x="1005840" y="347472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</a:rPr>
              <a:t>Несмотря на все меры, несколько паровозов всё-таки ушли под лёд. До сих пор на дне Байкала лежат два паровоза — живые памятники той авантюры.</a:t>
            </a:r>
            <a:endParaRPr lang="en-US" sz="1100"/>
          </a:p>
        </p:txBody>
      </p:sp>
      <p:sp>
        <p:nvSpPr>
          <p:cNvPr id="318845113" name="Shape 14"/>
          <p:cNvSpPr/>
          <p:nvPr/>
        </p:nvSpPr>
        <p:spPr bwMode="auto">
          <a:xfrm>
            <a:off x="4663440" y="29718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F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723429970" name="Text 15"/>
          <p:cNvSpPr/>
          <p:nvPr/>
        </p:nvSpPr>
        <p:spPr bwMode="auto">
          <a:xfrm>
            <a:off x="466344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2200"/>
          </a:p>
        </p:txBody>
      </p:sp>
      <p:sp>
        <p:nvSpPr>
          <p:cNvPr id="1639032187" name="Text 16"/>
          <p:cNvSpPr/>
          <p:nvPr/>
        </p:nvSpPr>
        <p:spPr bwMode="auto">
          <a:xfrm>
            <a:off x="5303520" y="31363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C4E"/>
                </a:solidFill>
              </a:rPr>
              <a:t>Пурга останавливала всё</a:t>
            </a:r>
            <a:endParaRPr lang="en-US" sz="1300"/>
          </a:p>
        </p:txBody>
      </p:sp>
      <p:sp>
        <p:nvSpPr>
          <p:cNvPr id="88003531" name="Text 17"/>
          <p:cNvSpPr/>
          <p:nvPr/>
        </p:nvSpPr>
        <p:spPr bwMode="auto">
          <a:xfrm>
            <a:off x="5303520" y="3474720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44444"/>
                </a:solidFill>
              </a:rPr>
              <a:t>В метель движение прекращалось полностью. Сигналы подавали через телеграф вдоль дороги, а колею постоянно расчищали от заносов.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A2C4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201512" name="Shape 0"/>
          <p:cNvSpPr/>
          <p:nvPr/>
        </p:nvSpPr>
        <p:spPr bwMode="auto">
          <a:xfrm flipH="0" flipV="0">
            <a:off x="0" y="4416136"/>
            <a:ext cx="9144000" cy="727363"/>
          </a:xfrm>
          <a:prstGeom prst="rect">
            <a:avLst/>
          </a:prstGeom>
          <a:solidFill>
            <a:srgbClr val="14253E"/>
          </a:solidFill>
          <a:ln w="12700">
            <a:solidFill>
              <a:srgbClr val="14253E"/>
            </a:solidFill>
            <a:prstDash val="solid"/>
          </a:ln>
        </p:spPr>
      </p:sp>
      <p:sp>
        <p:nvSpPr>
          <p:cNvPr id="2107074945" name="Shape 1"/>
          <p:cNvSpPr/>
          <p:nvPr/>
        </p:nvSpPr>
        <p:spPr bwMode="auto">
          <a:xfrm>
            <a:off x="0" y="4756519"/>
            <a:ext cx="9144000" cy="54864"/>
          </a:xfrm>
          <a:prstGeom prst="rect">
            <a:avLst/>
          </a:prstGeom>
          <a:solidFill>
            <a:srgbClr val="4A9CC7"/>
          </a:solidFill>
          <a:ln w="12700">
            <a:solidFill>
              <a:srgbClr val="4A9CC7"/>
            </a:solidFill>
            <a:prstDash val="solid"/>
          </a:ln>
        </p:spPr>
      </p:sp>
      <p:sp>
        <p:nvSpPr>
          <p:cNvPr id="2055027753" name="Text 2"/>
          <p:cNvSpPr/>
          <p:nvPr/>
        </p:nvSpPr>
        <p:spPr bwMode="auto">
          <a:xfrm>
            <a:off x="365760" y="182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4A9CC7"/>
                </a:solidFill>
              </a:rPr>
              <a:t>07</a:t>
            </a:r>
            <a:endParaRPr lang="en-US" sz="1100"/>
          </a:p>
        </p:txBody>
      </p:sp>
      <p:sp>
        <p:nvSpPr>
          <p:cNvPr id="727150643" name="Text 3"/>
          <p:cNvSpPr/>
          <p:nvPr/>
        </p:nvSpPr>
        <p:spPr bwMode="auto"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Конец истории</a:t>
            </a:r>
            <a:endParaRPr lang="en-US" sz="2800"/>
          </a:p>
        </p:txBody>
      </p:sp>
      <p:sp>
        <p:nvSpPr>
          <p:cNvPr id="499149398" name="Shape 4"/>
          <p:cNvSpPr/>
          <p:nvPr/>
        </p:nvSpPr>
        <p:spPr bwMode="auto">
          <a:xfrm>
            <a:off x="365760" y="1280160"/>
            <a:ext cx="54864" cy="640080"/>
          </a:xfrm>
          <a:prstGeom prst="rect">
            <a:avLst/>
          </a:prstGeom>
          <a:solidFill>
            <a:srgbClr val="4A9CC7"/>
          </a:solidFill>
          <a:ln w="12700">
            <a:solidFill>
              <a:srgbClr val="4A9CC7"/>
            </a:solidFill>
            <a:prstDash val="solid"/>
          </a:ln>
        </p:spPr>
      </p:sp>
      <p:sp>
        <p:nvSpPr>
          <p:cNvPr id="940867287" name="Text 5"/>
          <p:cNvSpPr/>
          <p:nvPr/>
        </p:nvSpPr>
        <p:spPr bwMode="auto">
          <a:xfrm>
            <a:off x="594360" y="1234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4A9CC7"/>
                </a:solidFill>
              </a:rPr>
              <a:t>1905</a:t>
            </a:r>
            <a:endParaRPr lang="en-US" sz="1300"/>
          </a:p>
        </p:txBody>
      </p:sp>
      <p:sp>
        <p:nvSpPr>
          <p:cNvPr id="852119044" name="Text 6"/>
          <p:cNvSpPr/>
          <p:nvPr/>
        </p:nvSpPr>
        <p:spPr bwMode="auto">
          <a:xfrm flipH="0" flipV="0">
            <a:off x="594359" y="1554480"/>
            <a:ext cx="37359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8DCEF"/>
                </a:solidFill>
              </a:rPr>
              <a:t>Достроен Кругобайкальский обходной путь — 260 км вдоль берега через 39 тоннелей. Ледяная дорога больше не нужна.</a:t>
            </a:r>
            <a:endParaRPr lang="en-US" sz="1300"/>
          </a:p>
        </p:txBody>
      </p:sp>
      <p:sp>
        <p:nvSpPr>
          <p:cNvPr id="1999287358" name="Shape 7"/>
          <p:cNvSpPr/>
          <p:nvPr/>
        </p:nvSpPr>
        <p:spPr bwMode="auto">
          <a:xfrm>
            <a:off x="365760" y="2176272"/>
            <a:ext cx="54864" cy="640080"/>
          </a:xfrm>
          <a:prstGeom prst="rect">
            <a:avLst/>
          </a:prstGeom>
          <a:solidFill>
            <a:srgbClr val="4A9CC7"/>
          </a:solidFill>
          <a:ln w="12700">
            <a:solidFill>
              <a:srgbClr val="4A9CC7"/>
            </a:solidFill>
            <a:prstDash val="solid"/>
          </a:ln>
        </p:spPr>
      </p:sp>
      <p:sp>
        <p:nvSpPr>
          <p:cNvPr id="1937657802" name="Text 8"/>
          <p:cNvSpPr/>
          <p:nvPr/>
        </p:nvSpPr>
        <p:spPr bwMode="auto">
          <a:xfrm>
            <a:off x="594360" y="21305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4A9CC7"/>
                </a:solidFill>
              </a:rPr>
              <a:t>Итог войны</a:t>
            </a:r>
            <a:endParaRPr lang="en-US" sz="1300"/>
          </a:p>
        </p:txBody>
      </p:sp>
      <p:sp>
        <p:nvSpPr>
          <p:cNvPr id="987439904" name="Text 9"/>
          <p:cNvSpPr/>
          <p:nvPr/>
        </p:nvSpPr>
        <p:spPr bwMode="auto">
          <a:xfrm flipH="0" flipV="0">
            <a:off x="594360" y="2450592"/>
            <a:ext cx="42266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8DCEF"/>
                </a:solidFill>
              </a:rPr>
              <a:t>Россия проиграла Русско-японскую войну. Но ледяная переправа всё же позволила перебросить войска — просто слишком медленно.</a:t>
            </a:r>
            <a:endParaRPr lang="en-US" sz="1300"/>
          </a:p>
        </p:txBody>
      </p:sp>
      <p:sp>
        <p:nvSpPr>
          <p:cNvPr id="1475791262" name="Shape 10"/>
          <p:cNvSpPr/>
          <p:nvPr/>
        </p:nvSpPr>
        <p:spPr bwMode="auto">
          <a:xfrm>
            <a:off x="365760" y="3072384"/>
            <a:ext cx="54864" cy="640080"/>
          </a:xfrm>
          <a:prstGeom prst="rect">
            <a:avLst/>
          </a:prstGeom>
          <a:solidFill>
            <a:srgbClr val="4A9CC7"/>
          </a:solidFill>
          <a:ln w="12700">
            <a:solidFill>
              <a:srgbClr val="4A9CC7"/>
            </a:solidFill>
            <a:prstDash val="solid"/>
          </a:ln>
        </p:spPr>
      </p:sp>
      <p:sp>
        <p:nvSpPr>
          <p:cNvPr id="1714424654" name="Text 11"/>
          <p:cNvSpPr/>
          <p:nvPr/>
        </p:nvSpPr>
        <p:spPr bwMode="auto">
          <a:xfrm>
            <a:off x="594360" y="30266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4A9CC7"/>
                </a:solidFill>
              </a:rPr>
              <a:t>Легенда</a:t>
            </a:r>
            <a:endParaRPr lang="en-US" sz="1300"/>
          </a:p>
        </p:txBody>
      </p:sp>
      <p:sp>
        <p:nvSpPr>
          <p:cNvPr id="1835757071" name="Text 12"/>
          <p:cNvSpPr/>
          <p:nvPr/>
        </p:nvSpPr>
        <p:spPr bwMode="auto">
          <a:xfrm flipH="0" flipV="0">
            <a:off x="594360" y="3461004"/>
            <a:ext cx="36565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8DCEF"/>
                </a:solidFill>
              </a:rPr>
              <a:t>Два паровоза до сих пор лежат на дне Байкала. Кругобайкальская дорога — объект культурного наследия. А история ледяного пути стала символом русской инженерной смелости.</a:t>
            </a:r>
            <a:endParaRPr lang="en-US" sz="1300"/>
          </a:p>
        </p:txBody>
      </p:sp>
      <p:pic>
        <p:nvPicPr>
          <p:cNvPr id="3478607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19204" y="1420939"/>
            <a:ext cx="4114800" cy="2562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Железная дорога на льду Байкала</dc:title>
  <dc:subject>PptxGenJS Presentation</dc:subject>
  <dc:creator>PptxGenJS</dc:creator>
  <cp:lastModifiedBy/>
  <cp:revision>2</cp:revision>
  <dcterms:created xsi:type="dcterms:W3CDTF">2026-04-24T07:59:41Z</dcterms:created>
  <dcterms:modified xsi:type="dcterms:W3CDTF">2026-04-24T08:14:50Z</dcterms:modified>
</cp:coreProperties>
</file>