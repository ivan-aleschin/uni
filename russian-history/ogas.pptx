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3979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9277018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50635883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848925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287129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263782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932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75123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029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963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7193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314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369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1612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6350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056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7189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7679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627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3062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26142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44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939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2701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092960" name="Text 0"/>
          <p:cNvSpPr/>
          <p:nvPr/>
        </p:nvSpPr>
        <p:spPr bwMode="auto">
          <a:xfrm>
            <a:off x="457200" y="6400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ОГАС</a:t>
            </a:r>
            <a:endParaRPr lang="en-US" sz="5600"/>
          </a:p>
        </p:txBody>
      </p:sp>
      <p:sp>
        <p:nvSpPr>
          <p:cNvPr id="1384087159" name="Text 1"/>
          <p:cNvSpPr/>
          <p:nvPr/>
        </p:nvSpPr>
        <p:spPr bwMode="auto">
          <a:xfrm>
            <a:off x="457200" y="20574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100" i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Советский интернет, который</a:t>
            </a:r>
            <a:endParaRPr lang="en-US" sz="2100"/>
          </a:p>
          <a:p>
            <a:pPr marL="0" indent="0">
              <a:buNone/>
              <a:defRPr/>
            </a:pPr>
            <a:r>
              <a:rPr lang="en-US" sz="2100" i="1">
                <a:solidFill>
                  <a:srgbClr val="5DADE2"/>
                </a:solidFill>
                <a:latin typeface="Calibri"/>
                <a:ea typeface="Calibri"/>
                <a:cs typeface="Calibri"/>
              </a:rPr>
              <a:t>мог изменить историю</a:t>
            </a:r>
            <a:endParaRPr lang="en-US" sz="2100"/>
          </a:p>
        </p:txBody>
      </p:sp>
      <p:sp>
        <p:nvSpPr>
          <p:cNvPr id="1599640439" name="Text 2"/>
          <p:cNvSpPr/>
          <p:nvPr/>
        </p:nvSpPr>
        <p:spPr bwMode="auto">
          <a:xfrm>
            <a:off x="4572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5D7A8A"/>
                </a:solidFill>
                <a:latin typeface="Calibri"/>
                <a:ea typeface="Calibri"/>
                <a:cs typeface="Calibri"/>
              </a:rPr>
              <a:t>История России · 1962–1982</a:t>
            </a:r>
            <a:endParaRPr lang="en-US" sz="1300"/>
          </a:p>
        </p:txBody>
      </p:sp>
      <p:sp>
        <p:nvSpPr>
          <p:cNvPr id="1297225308" name="Text 4"/>
          <p:cNvSpPr/>
          <p:nvPr/>
        </p:nvSpPr>
        <p:spPr bwMode="auto">
          <a:xfrm>
            <a:off x="566928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📷 Оригинальная схема сети ОГАС</a:t>
            </a:r>
            <a:r>
              <a:rPr lang="en-US" sz="1000" i="1">
                <a:solidFill>
                  <a:srgbClr val="4A82A6"/>
                </a:solidFill>
              </a:rPr>
              <a:t>из документов Глушкова, ~1962 г.</a:t>
            </a:r>
            <a:endParaRPr lang="en-US" sz="1000"/>
          </a:p>
        </p:txBody>
      </p:sp>
      <p:pic>
        <p:nvPicPr>
          <p:cNvPr id="1059999733" name=""/>
          <p:cNvPicPr>
            <a:picLocks noChangeAspect="1"/>
          </p:cNvPicPr>
          <p:nvPr/>
        </p:nvPicPr>
        <p:blipFill rotWithShape="1">
          <a:blip r:embed="rId3"/>
          <a:srcRect l="27106" t="0" r="9542" b="0"/>
        </p:blipFill>
        <p:spPr bwMode="auto">
          <a:xfrm flipH="0" flipV="0">
            <a:off x="5220000" y="719703"/>
            <a:ext cx="3649680" cy="38641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EEF4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79425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D1B2A"/>
                </a:solidFill>
                <a:latin typeface="Georgia"/>
                <a:ea typeface="Georgia"/>
                <a:cs typeface="Georgia"/>
              </a:rPr>
              <a:t>Виктор Глушков: кто придумал</a:t>
            </a:r>
            <a:endParaRPr lang="en-US" sz="3000"/>
          </a:p>
        </p:txBody>
      </p:sp>
      <p:sp>
        <p:nvSpPr>
          <p:cNvPr id="451812380" name="Shape 1"/>
          <p:cNvSpPr/>
          <p:nvPr/>
        </p:nvSpPr>
        <p:spPr bwMode="auto">
          <a:xfrm>
            <a:off x="457200" y="1005840"/>
            <a:ext cx="3200400" cy="3200400"/>
          </a:xfrm>
          <a:prstGeom prst="rect">
            <a:avLst/>
          </a:prstGeom>
          <a:solidFill>
            <a:srgbClr val="D6E8F5"/>
          </a:solidFill>
          <a:ln w="19050">
            <a:solidFill>
              <a:srgbClr val="7EB6D9"/>
            </a:solidFill>
            <a:prstDash val="dash"/>
          </a:ln>
        </p:spPr>
      </p:sp>
      <p:sp>
        <p:nvSpPr>
          <p:cNvPr id="991916406" name="Text 2"/>
          <p:cNvSpPr/>
          <p:nvPr/>
        </p:nvSpPr>
        <p:spPr bwMode="auto">
          <a:xfrm>
            <a:off x="457200" y="100584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📷 Фото: Виктор Глушков за работой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Институт кибернетики, Киев, 1960-е</a:t>
            </a:r>
            <a:endParaRPr lang="en-US" sz="1000"/>
          </a:p>
        </p:txBody>
      </p:sp>
      <p:sp>
        <p:nvSpPr>
          <p:cNvPr id="574635901" name="Text 3"/>
          <p:cNvSpPr/>
          <p:nvPr/>
        </p:nvSpPr>
        <p:spPr bwMode="auto">
          <a:xfrm>
            <a:off x="3931920" y="10058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Математик, директор Института кибернетики в Киеве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Один из первых в мире понял: компьютеры можно связать в единую сеть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1962 год — приходит к Хрущёву с идеей государственной компьютерной сети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По масштабу мышления — один из крупнейших технических визионеров своего времени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Боролся за проект 15 лет — вплоть до своей смерти в 1982 году</a:t>
            </a:r>
            <a:endParaRPr lang="en-US" sz="1500"/>
          </a:p>
        </p:txBody>
      </p:sp>
      <p:sp>
        <p:nvSpPr>
          <p:cNvPr id="170888711" name="Text 4"/>
          <p:cNvSpPr/>
          <p:nvPr/>
        </p:nvSpPr>
        <p:spPr bwMode="auto"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5D7A8A"/>
                </a:solidFill>
                <a:latin typeface="Calibri"/>
                <a:ea typeface="Calibri"/>
                <a:cs typeface="Calibri"/>
              </a:rPr>
              <a:t>Гений в нужное время и в нужном месте — но в непростой системе</a:t>
            </a:r>
            <a:endParaRPr lang="en-US" sz="1400"/>
          </a:p>
        </p:txBody>
      </p:sp>
      <p:pic>
        <p:nvPicPr>
          <p:cNvPr id="552043363" name=""/>
          <p:cNvPicPr>
            <a:picLocks noChangeAspect="1"/>
          </p:cNvPicPr>
          <p:nvPr/>
        </p:nvPicPr>
        <p:blipFill rotWithShape="1">
          <a:blip r:embed="rId3"/>
          <a:srcRect l="31455" t="0" r="0" b="0"/>
        </p:blipFill>
        <p:spPr bwMode="auto">
          <a:xfrm flipH="0" flipV="0">
            <a:off x="457200" y="1005840"/>
            <a:ext cx="3246849" cy="3260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936399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D1B2A"/>
                </a:solidFill>
                <a:latin typeface="Georgia"/>
                <a:ea typeface="Georgia"/>
                <a:cs typeface="Georgia"/>
              </a:rPr>
              <a:t>Что такое ОГАС</a:t>
            </a:r>
            <a:endParaRPr lang="en-US" sz="3000"/>
          </a:p>
        </p:txBody>
      </p:sp>
      <p:sp>
        <p:nvSpPr>
          <p:cNvPr id="1314777918" name="Shape 1"/>
          <p:cNvSpPr/>
          <p:nvPr/>
        </p:nvSpPr>
        <p:spPr bwMode="auto">
          <a:xfrm>
            <a:off x="5303520" y="1005840"/>
            <a:ext cx="3566160" cy="2743200"/>
          </a:xfrm>
          <a:prstGeom prst="rect">
            <a:avLst/>
          </a:prstGeom>
          <a:solidFill>
            <a:srgbClr val="D6E8F5"/>
          </a:solidFill>
          <a:ln w="19050">
            <a:solidFill>
              <a:srgbClr val="7EB6D9"/>
            </a:solidFill>
            <a:prstDash val="dash"/>
          </a:ln>
        </p:spPr>
      </p:sp>
      <p:sp>
        <p:nvSpPr>
          <p:cNvPr id="862618675" name="Text 2"/>
          <p:cNvSpPr/>
          <p:nvPr/>
        </p:nvSpPr>
        <p:spPr bwMode="auto">
          <a:xfrm>
            <a:off x="5303520" y="10058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📷 Топология сети ОГАС: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центр — Москва, узлы — города и заводы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(архивная схема или реконструкция)</a:t>
            </a:r>
            <a:endParaRPr lang="en-US" sz="1000"/>
          </a:p>
        </p:txBody>
      </p:sp>
      <p:sp>
        <p:nvSpPr>
          <p:cNvPr id="1378695981" name="Text 3"/>
          <p:cNvSpPr/>
          <p:nvPr/>
        </p:nvSpPr>
        <p:spPr bwMode="auto">
          <a:xfrm flipH="0" flipV="0">
            <a:off x="457199" y="1005839"/>
            <a:ext cx="3568821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ОГАС — Общегосударственная автоматизированная система</a:t>
            </a:r>
            <a:endParaRPr lang="en-US" sz="14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~20 000 компьютерных узлов по всему СССР</a:t>
            </a:r>
            <a:endParaRPr lang="en-US" sz="14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Центр в Москве, узлы в каждом городе и на каждом предприятии</a:t>
            </a:r>
            <a:endParaRPr lang="en-US" sz="14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Цель: собирать данные об экономике в реальном времени и управлять ею</a:t>
            </a:r>
            <a:endParaRPr lang="en-US" sz="1400"/>
          </a:p>
          <a:p>
            <a:pPr marL="342900" indent="-342900">
              <a:spcAft>
                <a:spcPts val="7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По архитектуре — прямой предшественник интернета, только централизованный</a:t>
            </a:r>
            <a:endParaRPr lang="en-US" sz="1400"/>
          </a:p>
        </p:txBody>
      </p:sp>
      <p:sp>
        <p:nvSpPr>
          <p:cNvPr id="27667296" name="Text 4"/>
          <p:cNvSpPr/>
          <p:nvPr/>
        </p:nvSpPr>
        <p:spPr bwMode="auto"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5D7A8A"/>
                </a:solidFill>
                <a:latin typeface="Calibri"/>
                <a:ea typeface="Calibri"/>
                <a:cs typeface="Calibri"/>
              </a:rPr>
              <a:t>Выглядит как современная топология корпоративной сети — только 1962 год</a:t>
            </a:r>
            <a:endParaRPr lang="en-US" sz="1400"/>
          </a:p>
        </p:txBody>
      </p:sp>
      <p:pic>
        <p:nvPicPr>
          <p:cNvPr id="13914669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026021" y="891969"/>
            <a:ext cx="5084012" cy="29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EEF4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689058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D1B2A"/>
                </a:solidFill>
                <a:latin typeface="Georgia"/>
                <a:ea typeface="Georgia"/>
                <a:cs typeface="Georgia"/>
              </a:rPr>
              <a:t>Насколько это было революционно</a:t>
            </a:r>
            <a:endParaRPr lang="en-US" sz="3000"/>
          </a:p>
        </p:txBody>
      </p:sp>
      <p:sp>
        <p:nvSpPr>
          <p:cNvPr id="1398660177" name="Shape 1"/>
          <p:cNvSpPr/>
          <p:nvPr/>
        </p:nvSpPr>
        <p:spPr bwMode="auto">
          <a:xfrm>
            <a:off x="365760" y="1097280"/>
            <a:ext cx="3840480" cy="2560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12203293" name="Text 2"/>
          <p:cNvSpPr/>
          <p:nvPr/>
        </p:nvSpPr>
        <p:spPr bwMode="auto">
          <a:xfrm>
            <a:off x="36576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СССР · ОГАС · 1962</a:t>
            </a:r>
            <a:endParaRPr lang="en-US" sz="1400"/>
          </a:p>
        </p:txBody>
      </p:sp>
      <p:sp>
        <p:nvSpPr>
          <p:cNvPr id="115274889" name="Text 3"/>
          <p:cNvSpPr/>
          <p:nvPr/>
        </p:nvSpPr>
        <p:spPr bwMode="auto">
          <a:xfrm>
            <a:off x="457200" y="160020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Глушков предлагает сеть узлов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Цифровые транзакции вместо наличных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Учёт ресурсов в реальном времени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Конец бумажной бюрократии</a:t>
            </a:r>
            <a:endParaRPr lang="en-US" sz="1300"/>
          </a:p>
        </p:txBody>
      </p:sp>
      <p:sp>
        <p:nvSpPr>
          <p:cNvPr id="1264516301" name="Shape 4"/>
          <p:cNvSpPr/>
          <p:nvPr/>
        </p:nvSpPr>
        <p:spPr bwMode="auto">
          <a:xfrm>
            <a:off x="4572000" y="1097280"/>
            <a:ext cx="3840480" cy="25603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42763379" name="Text 5"/>
          <p:cNvSpPr/>
          <p:nvPr/>
        </p:nvSpPr>
        <p:spPr bwMode="auto">
          <a:xfrm>
            <a:off x="45720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США · ARPANET · 1966</a:t>
            </a:r>
            <a:endParaRPr lang="en-US" sz="1400"/>
          </a:p>
        </p:txBody>
      </p:sp>
      <p:sp>
        <p:nvSpPr>
          <p:cNvPr id="2007305021" name="Text 6"/>
          <p:cNvSpPr/>
          <p:nvPr/>
        </p:nvSpPr>
        <p:spPr bwMode="auto">
          <a:xfrm>
            <a:off x="4663440" y="1600200"/>
            <a:ext cx="3657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Проект ARPANET только начат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Цель: связать военные компьютеры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Первые 4 узла — в 1969 году</a:t>
            </a:r>
            <a:endParaRPr lang="en-US" sz="1300"/>
          </a:p>
          <a:p>
            <a:pPr marL="342900" indent="-342900">
              <a:spcAft>
                <a:spcPts val="600"/>
              </a:spcAft>
              <a:buSzPct val="100000"/>
              <a:buChar char="•"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Публичный интернет — 1990-е</a:t>
            </a:r>
            <a:endParaRPr lang="en-US" sz="1300"/>
          </a:p>
        </p:txBody>
      </p:sp>
      <p:sp>
        <p:nvSpPr>
          <p:cNvPr id="47720526" name="Text 7"/>
          <p:cNvSpPr/>
          <p:nvPr/>
        </p:nvSpPr>
        <p:spPr bwMode="auto"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5D7A8A"/>
                </a:solidFill>
                <a:latin typeface="Calibri"/>
                <a:ea typeface="Calibri"/>
                <a:cs typeface="Calibri"/>
              </a:rPr>
              <a:t>СССР опережал США на 4–7 лет в концепции — но не в реализации</a:t>
            </a:r>
            <a:endParaRPr lang="en-US" sz="1400"/>
          </a:p>
        </p:txBody>
      </p:sp>
      <p:sp>
        <p:nvSpPr>
          <p:cNvPr id="981594459" name="Text 8"/>
          <p:cNvSpPr/>
          <p:nvPr/>
        </p:nvSpPr>
        <p:spPr bwMode="auto"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300" i="1">
                <a:solidFill>
                  <a:srgbClr val="2980B9"/>
                </a:solidFill>
                <a:latin typeface="Calibri"/>
                <a:ea typeface="Calibri"/>
                <a:cs typeface="Calibri"/>
              </a:rPr>
              <a:t>Глушков описывал то, что мы сейчас называем ERP-системами и big data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3152788" name="Text 0"/>
          <p:cNvSpPr/>
          <p:nvPr/>
        </p:nvSpPr>
        <p:spPr bwMode="auto"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0D1B2A"/>
                </a:solidFill>
                <a:latin typeface="Georgia"/>
                <a:ea typeface="Georgia"/>
                <a:cs typeface="Georgia"/>
              </a:rPr>
              <a:t>Почему проект не реализовали</a:t>
            </a:r>
            <a:endParaRPr lang="en-US" sz="3000"/>
          </a:p>
        </p:txBody>
      </p:sp>
      <p:sp>
        <p:nvSpPr>
          <p:cNvPr id="717307099" name="Shape 1"/>
          <p:cNvSpPr/>
          <p:nvPr/>
        </p:nvSpPr>
        <p:spPr bwMode="auto">
          <a:xfrm>
            <a:off x="5303520" y="1005840"/>
            <a:ext cx="3474720" cy="2743200"/>
          </a:xfrm>
          <a:prstGeom prst="rect">
            <a:avLst/>
          </a:prstGeom>
          <a:solidFill>
            <a:srgbClr val="D6E8F5"/>
          </a:solidFill>
          <a:ln w="19050">
            <a:solidFill>
              <a:srgbClr val="7EB6D9"/>
            </a:solidFill>
            <a:prstDash val="dash"/>
          </a:ln>
        </p:spPr>
      </p:sp>
      <p:sp>
        <p:nvSpPr>
          <p:cNvPr id="2123609619" name="Text 2"/>
          <p:cNvSpPr/>
          <p:nvPr/>
        </p:nvSpPr>
        <p:spPr bwMode="auto">
          <a:xfrm>
            <a:off x="5303520" y="10058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📷 Иллюстрация: заседание Госплана СССР /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советские чиновники за столом, 1960-е</a:t>
            </a:r>
            <a:endParaRPr lang="en-US" sz="1000"/>
          </a:p>
        </p:txBody>
      </p:sp>
      <p:sp>
        <p:nvSpPr>
          <p:cNvPr id="221324177" name="Text 3"/>
          <p:cNvSpPr/>
          <p:nvPr/>
        </p:nvSpPr>
        <p:spPr bwMode="auto">
          <a:xfrm>
            <a:off x="457200" y="10058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Министерства и ведомства поняли: прозрачная система данных сделает их работу видимой — и уязвимой</a:t>
            </a:r>
            <a:endParaRPr lang="en-US" sz="1400"/>
          </a:p>
          <a:p>
            <a:pPr marL="342900" indent="-342900">
              <a:spcAft>
                <a:spcPts val="9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Началось тихое сопротивление: затягивание согласований, урезание бюджета, бесконечные переименования</a:t>
            </a:r>
            <a:endParaRPr lang="en-US" sz="1400"/>
          </a:p>
          <a:p>
            <a:pPr marL="342900" indent="-342900">
              <a:spcAft>
                <a:spcPts val="9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Глушков боролся с этим 15 лет и не смог пробить стену</a:t>
            </a:r>
            <a:endParaRPr lang="en-US" sz="1400"/>
          </a:p>
          <a:p>
            <a:pPr marL="342900" indent="-342900">
              <a:spcAft>
                <a:spcPts val="900"/>
              </a:spcAft>
              <a:buSzPct val="100000"/>
              <a:buChar char="•"/>
              <a:defRPr/>
            </a:pPr>
            <a:r>
              <a:rPr lang="en-US" sz="1400">
                <a:solidFill>
                  <a:srgbClr val="1B1B1B"/>
                </a:solidFill>
                <a:latin typeface="Calibri"/>
                <a:ea typeface="Calibri"/>
                <a:cs typeface="Calibri"/>
              </a:rPr>
              <a:t>Формально проект «продолжался» ещё долго — фактически был заморожен</a:t>
            </a:r>
            <a:endParaRPr lang="en-US" sz="1400"/>
          </a:p>
        </p:txBody>
      </p:sp>
      <p:sp>
        <p:nvSpPr>
          <p:cNvPr id="1619021978" name="Text 4"/>
          <p:cNvSpPr/>
          <p:nvPr/>
        </p:nvSpPr>
        <p:spPr bwMode="auto"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i="1">
                <a:solidFill>
                  <a:srgbClr val="5D7A8A"/>
                </a:solidFill>
                <a:latin typeface="Calibri"/>
                <a:ea typeface="Calibri"/>
                <a:cs typeface="Calibri"/>
              </a:rPr>
              <a:t>Технология была готова. Проблема оказалась не технической.</a:t>
            </a:r>
            <a:endParaRPr lang="en-US" sz="1400"/>
          </a:p>
        </p:txBody>
      </p:sp>
      <p:pic>
        <p:nvPicPr>
          <p:cNvPr id="827255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800000" cy="1800000"/>
          </a:xfrm>
          <a:prstGeom prst="rect">
            <a:avLst/>
          </a:prstGeom>
        </p:spPr>
      </p:pic>
      <p:pic>
        <p:nvPicPr>
          <p:cNvPr id="20862625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2399" y="152399"/>
            <a:ext cx="1800000" cy="1800000"/>
          </a:xfrm>
          <a:prstGeom prst="rect">
            <a:avLst/>
          </a:prstGeom>
        </p:spPr>
      </p:pic>
      <p:pic>
        <p:nvPicPr>
          <p:cNvPr id="1297302867" name=""/>
          <p:cNvPicPr>
            <a:picLocks noChangeAspect="1"/>
          </p:cNvPicPr>
          <p:nvPr/>
        </p:nvPicPr>
        <p:blipFill rotWithShape="1">
          <a:blip r:embed="rId4"/>
          <a:srcRect l="0" t="0" r="24992" b="0"/>
        </p:blipFill>
        <p:spPr bwMode="auto">
          <a:xfrm flipH="0" flipV="0">
            <a:off x="5029199" y="900000"/>
            <a:ext cx="4094708" cy="3070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056376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Наследие и урок</a:t>
            </a:r>
            <a:endParaRPr lang="en-US" sz="3000"/>
          </a:p>
        </p:txBody>
      </p:sp>
      <p:sp>
        <p:nvSpPr>
          <p:cNvPr id="772391164" name="Text 2"/>
          <p:cNvSpPr/>
          <p:nvPr/>
        </p:nvSpPr>
        <p:spPr bwMode="auto">
          <a:xfrm>
            <a:off x="5303520" y="10058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📷 Фото: портрет Глушкова /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 i="1">
                <a:solidFill>
                  <a:srgbClr val="4A82A6"/>
                </a:solidFill>
              </a:rPr>
              <a:t>обложка его книги «Кибернетика»</a:t>
            </a:r>
            <a:endParaRPr lang="en-US" sz="1000"/>
          </a:p>
        </p:txBody>
      </p:sp>
      <p:sp>
        <p:nvSpPr>
          <p:cNvPr id="1007098869" name="Text 3"/>
          <p:cNvSpPr/>
          <p:nvPr/>
        </p:nvSpPr>
        <p:spPr bwMode="auto">
          <a:xfrm>
            <a:off x="457200" y="1005840"/>
            <a:ext cx="4572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Идеи Глушкова вошли в теорию распределённых систем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История ОГАС изучается в бизнес-школах как кейс управления инновациями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Историки до сих пор спорят: изменил бы ОГАС судьбу советской экономики</a:t>
            </a:r>
            <a:endParaRPr lang="en-US" sz="15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Советск</a:t>
            </a:r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ие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математик</a:t>
            </a:r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был</a:t>
            </a:r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одними из лучших во всем мире</a:t>
            </a:r>
            <a:endParaRPr lang="en-US" sz="1500"/>
          </a:p>
        </p:txBody>
      </p:sp>
      <p:sp>
        <p:nvSpPr>
          <p:cNvPr id="688879344" name="Shape 4"/>
          <p:cNvSpPr/>
          <p:nvPr/>
        </p:nvSpPr>
        <p:spPr bwMode="auto">
          <a:xfrm flipH="0" flipV="0">
            <a:off x="457200" y="3794760"/>
            <a:ext cx="4571999" cy="10058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13591684" name="Text 5"/>
          <p:cNvSpPr/>
          <p:nvPr/>
        </p:nvSpPr>
        <p:spPr bwMode="auto">
          <a:xfrm flipH="0" flipV="0">
            <a:off x="457200" y="3794760"/>
            <a:ext cx="427984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ru-RU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</a:t>
            </a: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ало придумать решение — надо понять, кому оно выгодно, а кому мешает.</a:t>
            </a:r>
            <a:endParaRPr lang="en-US" sz="1400"/>
          </a:p>
        </p:txBody>
      </p:sp>
      <p:pic>
        <p:nvPicPr>
          <p:cNvPr id="7049667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564118" y="124189"/>
            <a:ext cx="2953521" cy="4676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ОГАС</dc:title>
  <dc:subject>PptxGenJS Presentation</dc:subject>
  <dc:creator>PptxGenJS</dc:creator>
  <cp:lastModifiedBy/>
  <cp:revision>3</cp:revision>
  <dcterms:created xsi:type="dcterms:W3CDTF">2026-05-21T19:43:55Z</dcterms:created>
  <dcterms:modified xsi:type="dcterms:W3CDTF">2026-05-22T09:22:18Z</dcterms:modified>
</cp:coreProperties>
</file>