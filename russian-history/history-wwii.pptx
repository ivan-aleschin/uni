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7629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40754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5/8/2026</a:t>
            </a:fld>
            <a:endParaRPr lang="en-US"/>
          </a:p>
        </p:txBody>
      </p:sp>
      <p:sp>
        <p:nvSpPr>
          <p:cNvPr id="89301580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5979896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216940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52906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5981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0219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3761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13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714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6327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591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6534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6791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1453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015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5330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13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836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6534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508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0326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6079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931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8788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3928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1147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148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429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276086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56870127" name="Text 1"/>
          <p:cNvSpPr/>
          <p:nvPr/>
        </p:nvSpPr>
        <p:spPr bwMode="auto">
          <a:xfrm>
            <a:off x="3200400" y="2743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20000">
                <a:solidFill>
                  <a:srgbClr val="161B27"/>
                </a:solidFill>
                <a:latin typeface="Impact"/>
                <a:ea typeface="Impact"/>
                <a:cs typeface="Impact"/>
              </a:rPr>
              <a:t>1944</a:t>
            </a:r>
            <a:endParaRPr lang="en-US" sz="20000"/>
          </a:p>
        </p:txBody>
      </p:sp>
      <p:sp>
        <p:nvSpPr>
          <p:cNvPr id="13026425" name="Shape 2"/>
          <p:cNvSpPr/>
          <p:nvPr/>
        </p:nvSpPr>
        <p:spPr bwMode="auto">
          <a:xfrm>
            <a:off x="274320" y="411480"/>
            <a:ext cx="292608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1288363" name="Text 3"/>
          <p:cNvSpPr/>
          <p:nvPr/>
        </p:nvSpPr>
        <p:spPr bwMode="auto">
          <a:xfrm>
            <a:off x="274320" y="411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ИСТОРИЯ РАЗВЕДКИ · ВОВ</a:t>
            </a:r>
            <a:endParaRPr lang="en-US" sz="900"/>
          </a:p>
        </p:txBody>
      </p:sp>
      <p:sp>
        <p:nvSpPr>
          <p:cNvPr id="637318935" name="Text 4"/>
          <p:cNvSpPr/>
          <p:nvPr/>
        </p:nvSpPr>
        <p:spPr bwMode="auto">
          <a:xfrm>
            <a:off x="27432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ГРУППА</a:t>
            </a:r>
            <a:endParaRPr lang="en-US" sz="7200"/>
          </a:p>
        </p:txBody>
      </p:sp>
      <p:sp>
        <p:nvSpPr>
          <p:cNvPr id="1920928576" name="Text 5"/>
          <p:cNvSpPr/>
          <p:nvPr/>
        </p:nvSpPr>
        <p:spPr bwMode="auto">
          <a:xfrm>
            <a:off x="27432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7200" b="1">
                <a:solidFill>
                  <a:srgbClr val="EF4444"/>
                </a:solidFill>
                <a:latin typeface="Arial Black"/>
                <a:ea typeface="Arial Black"/>
                <a:cs typeface="Arial Black"/>
              </a:rPr>
              <a:t>ШЕРХОРНА</a:t>
            </a:r>
            <a:endParaRPr lang="en-US" sz="7200"/>
          </a:p>
        </p:txBody>
      </p:sp>
      <p:sp>
        <p:nvSpPr>
          <p:cNvPr id="544975410" name="Text 6"/>
          <p:cNvSpPr/>
          <p:nvPr/>
        </p:nvSpPr>
        <p:spPr bwMode="auto">
          <a:xfrm>
            <a:off x="27432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spc="300">
                <a:solidFill>
                  <a:srgbClr val="9CA3AF"/>
                </a:solidFill>
              </a:rPr>
              <a:t>АВГУСТ 1944 — МАЙ 1945 · ВОСТОЧНЫЙ ФРОНТ</a:t>
            </a:r>
            <a:endParaRPr lang="en-US" sz="1300"/>
          </a:p>
        </p:txBody>
      </p:sp>
      <p:sp>
        <p:nvSpPr>
          <p:cNvPr id="1782791206" name="Shape 7"/>
          <p:cNvSpPr/>
          <p:nvPr/>
        </p:nvSpPr>
        <p:spPr bwMode="auto">
          <a:xfrm>
            <a:off x="0" y="4663440"/>
            <a:ext cx="9144000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8649298" name="Text 8"/>
          <p:cNvSpPr/>
          <p:nvPr/>
        </p:nvSpPr>
        <p:spPr bwMode="auto">
          <a:xfrm>
            <a:off x="0" y="4663440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300">
                <a:solidFill>
                  <a:srgbClr val="FFFFFF"/>
                </a:solidFill>
              </a:rPr>
              <a:t>ОПЕРАЦИЯ, О КОТОРОЙ НЕ ПИСАЛИ В ГАЗЕТАХ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605242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61888525" name="Shape 1"/>
          <p:cNvSpPr/>
          <p:nvPr/>
        </p:nvSpPr>
        <p:spPr bwMode="auto">
          <a:xfrm>
            <a:off x="274320" y="274320"/>
            <a:ext cx="292608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7522264" name="Text 2"/>
          <p:cNvSpPr/>
          <p:nvPr/>
        </p:nvSpPr>
        <p:spPr bwMode="auto">
          <a:xfrm>
            <a:off x="274320" y="274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КОНТЕКСТ · ВОСТОЧНЫЙ ФРОНТ</a:t>
            </a:r>
            <a:endParaRPr lang="en-US" sz="900"/>
          </a:p>
        </p:txBody>
      </p:sp>
      <p:sp>
        <p:nvSpPr>
          <p:cNvPr id="1987675587" name="Text 3"/>
          <p:cNvSpPr/>
          <p:nvPr/>
        </p:nvSpPr>
        <p:spPr bwMode="auto">
          <a:xfrm>
            <a:off x="274320" y="685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Лето 1944.</a:t>
            </a:r>
            <a:endParaRPr lang="en-US" sz="3600"/>
          </a:p>
        </p:txBody>
      </p:sp>
      <p:sp>
        <p:nvSpPr>
          <p:cNvPr id="644991418" name="Text 4"/>
          <p:cNvSpPr/>
          <p:nvPr/>
        </p:nvSpPr>
        <p:spPr bwMode="auto">
          <a:xfrm>
            <a:off x="274320" y="1371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EF4444"/>
                </a:solidFill>
                <a:latin typeface="Georgia"/>
                <a:ea typeface="Georgia"/>
                <a:cs typeface="Georgia"/>
              </a:rPr>
              <a:t>Германия проигрывает.</a:t>
            </a:r>
            <a:endParaRPr lang="en-US" sz="2800"/>
          </a:p>
        </p:txBody>
      </p:sp>
      <p:sp>
        <p:nvSpPr>
          <p:cNvPr id="1336328388" name="Text 5"/>
          <p:cNvSpPr/>
          <p:nvPr/>
        </p:nvSpPr>
        <p:spPr bwMode="auto">
          <a:xfrm>
            <a:off x="274320" y="201168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defRPr/>
            </a:pPr>
            <a:r>
              <a:rPr lang="en-US" sz="14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Советская операция «Багратион» уничтожила немецкую группу армий «Центр»</a:t>
            </a:r>
            <a:endParaRPr lang="en-US" sz="1400" b="0" i="0" u="none" strike="noStrike" cap="none" spc="0">
              <a:solidFill>
                <a:srgbClr val="FFFFFF"/>
              </a:solidFill>
              <a:latin typeface="Calibri"/>
              <a:cs typeface="Calibri"/>
            </a:endParaRPr>
          </a:p>
          <a:p>
            <a:pPr marL="342900" marR="0" indent="-3429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  <a:defRPr/>
            </a:pPr>
            <a:r>
              <a:rPr lang="en-US" sz="14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Германия лишилась более 500 000 солдат — убитыми, ранеными и захваченными в плен</a:t>
            </a:r>
            <a:endParaRPr lang="en-US" sz="1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4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Сотни тысяч немцев оказались отрезаны в советском тылу</a:t>
            </a:r>
            <a:endParaRPr lang="en-US" sz="1400"/>
          </a:p>
          <a:p>
            <a:pPr marL="342900" indent="-342900">
              <a:lnSpc>
                <a:spcPct val="14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Среди них — группа у реки Березина, июль 1944</a:t>
            </a:r>
            <a:endParaRPr lang="en-US" sz="1400"/>
          </a:p>
        </p:txBody>
      </p:sp>
      <p:sp>
        <p:nvSpPr>
          <p:cNvPr id="164788474" name="Text 7"/>
          <p:cNvSpPr/>
          <p:nvPr/>
        </p:nvSpPr>
        <p:spPr bwMode="auto">
          <a:xfrm>
            <a:off x="4846320" y="27432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[ ВСТАВИТЬ: Карта операции «Багратион» 1944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(Wikimedia Commons, public domain) ]</a:t>
            </a:r>
            <a:endParaRPr lang="en-US" sz="1000"/>
          </a:p>
        </p:txBody>
      </p:sp>
      <p:pic>
        <p:nvPicPr>
          <p:cNvPr id="139518100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658889" y="1099746"/>
            <a:ext cx="4212667" cy="3058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531784" name="Shape 0"/>
          <p:cNvSpPr/>
          <p:nvPr/>
        </p:nvSpPr>
        <p:spPr bwMode="auto">
          <a:xfrm>
            <a:off x="0" y="0"/>
            <a:ext cx="3931920" cy="514350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98174995" name="Text 1"/>
          <p:cNvSpPr/>
          <p:nvPr/>
        </p:nvSpPr>
        <p:spPr bwMode="auto">
          <a:xfrm>
            <a:off x="0" y="0"/>
            <a:ext cx="393192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[ ВСТАВИТЬ: Немецкие солдаты на Восточном фронте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(Bundesarchiv, public domain) ]</a:t>
            </a:r>
            <a:endParaRPr lang="en-US" sz="1000"/>
          </a:p>
        </p:txBody>
      </p:sp>
      <p:sp>
        <p:nvSpPr>
          <p:cNvPr id="1674123844" name="Shape 2"/>
          <p:cNvSpPr/>
          <p:nvPr/>
        </p:nvSpPr>
        <p:spPr bwMode="auto">
          <a:xfrm>
            <a:off x="393192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64181245" name="Shape 3"/>
          <p:cNvSpPr/>
          <p:nvPr/>
        </p:nvSpPr>
        <p:spPr bwMode="auto">
          <a:xfrm>
            <a:off x="4114800" y="320040"/>
            <a:ext cx="18288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39769229" name="Text 4"/>
          <p:cNvSpPr/>
          <p:nvPr/>
        </p:nvSpPr>
        <p:spPr bwMode="auto">
          <a:xfrm>
            <a:off x="4114800" y="320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АВГУСТ 1944</a:t>
            </a:r>
            <a:endParaRPr lang="en-US" sz="900"/>
          </a:p>
        </p:txBody>
      </p:sp>
      <p:sp>
        <p:nvSpPr>
          <p:cNvPr id="1352321011" name="Text 5"/>
          <p:cNvSpPr/>
          <p:nvPr/>
        </p:nvSpPr>
        <p:spPr bwMode="auto">
          <a:xfrm>
            <a:off x="4114800" y="7315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Подполковник</a:t>
            </a:r>
            <a:endParaRPr lang="en-US" sz="3000"/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Генрих Шерхорн</a:t>
            </a:r>
            <a:endParaRPr lang="en-US" sz="3000"/>
          </a:p>
        </p:txBody>
      </p:sp>
      <p:sp>
        <p:nvSpPr>
          <p:cNvPr id="1804900141" name="Shape 6"/>
          <p:cNvSpPr/>
          <p:nvPr/>
        </p:nvSpPr>
        <p:spPr bwMode="auto">
          <a:xfrm>
            <a:off x="4114800" y="2103120"/>
            <a:ext cx="4663440" cy="731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43829697" name="Text 7"/>
          <p:cNvSpPr/>
          <p:nvPr/>
        </p:nvSpPr>
        <p:spPr bwMode="auto">
          <a:xfrm>
            <a:off x="429768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EF4444"/>
                </a:solidFill>
              </a:rPr>
              <a:t>2 500</a:t>
            </a:r>
            <a:endParaRPr lang="en-US" sz="2000"/>
          </a:p>
        </p:txBody>
      </p:sp>
      <p:sp>
        <p:nvSpPr>
          <p:cNvPr id="2025841158" name="Text 8"/>
          <p:cNvSpPr/>
          <p:nvPr/>
        </p:nvSpPr>
        <p:spPr bwMode="auto">
          <a:xfrm>
            <a:off x="6035039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CA3AF"/>
                </a:solidFill>
              </a:rPr>
              <a:t>солдат в окружении</a:t>
            </a:r>
            <a:endParaRPr lang="en-US" sz="1300"/>
          </a:p>
        </p:txBody>
      </p:sp>
      <p:sp>
        <p:nvSpPr>
          <p:cNvPr id="1147298503" name="Shape 9"/>
          <p:cNvSpPr/>
          <p:nvPr/>
        </p:nvSpPr>
        <p:spPr bwMode="auto">
          <a:xfrm>
            <a:off x="4114800" y="2971800"/>
            <a:ext cx="4663440" cy="731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70434713" name="Text 10"/>
          <p:cNvSpPr/>
          <p:nvPr/>
        </p:nvSpPr>
        <p:spPr bwMode="auto">
          <a:xfrm>
            <a:off x="4297680" y="3017519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EF4444"/>
                </a:solidFill>
              </a:rPr>
              <a:t>Белоруссия</a:t>
            </a:r>
            <a:endParaRPr lang="en-US" sz="2000"/>
          </a:p>
        </p:txBody>
      </p:sp>
      <p:sp>
        <p:nvSpPr>
          <p:cNvPr id="726949535" name="Text 11"/>
          <p:cNvSpPr/>
          <p:nvPr/>
        </p:nvSpPr>
        <p:spPr bwMode="auto">
          <a:xfrm>
            <a:off x="6035039" y="3017519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CA3AF"/>
                </a:solidFill>
              </a:rPr>
              <a:t>советский тыл</a:t>
            </a:r>
            <a:endParaRPr lang="en-US" sz="1300"/>
          </a:p>
        </p:txBody>
      </p:sp>
      <p:sp>
        <p:nvSpPr>
          <p:cNvPr id="405604295" name="Shape 12"/>
          <p:cNvSpPr/>
          <p:nvPr/>
        </p:nvSpPr>
        <p:spPr bwMode="auto">
          <a:xfrm>
            <a:off x="4114800" y="3840480"/>
            <a:ext cx="4663440" cy="73152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80958927" name="Text 13"/>
          <p:cNvSpPr/>
          <p:nvPr/>
        </p:nvSpPr>
        <p:spPr bwMode="auto">
          <a:xfrm>
            <a:off x="4297680" y="3886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2000" b="1">
                <a:solidFill>
                  <a:srgbClr val="EF4444"/>
                </a:solidFill>
              </a:rPr>
              <a:t>Август</a:t>
            </a:r>
            <a:r>
              <a:rPr lang="en-US" sz="2000" b="1">
                <a:solidFill>
                  <a:srgbClr val="EF4444"/>
                </a:solidFill>
              </a:rPr>
              <a:t> 1944</a:t>
            </a:r>
            <a:endParaRPr lang="en-US" sz="2000"/>
          </a:p>
        </p:txBody>
      </p:sp>
      <p:sp>
        <p:nvSpPr>
          <p:cNvPr id="102768063" name="Text 14"/>
          <p:cNvSpPr/>
          <p:nvPr/>
        </p:nvSpPr>
        <p:spPr bwMode="auto">
          <a:xfrm flipH="0" flipV="0">
            <a:off x="6035038" y="3886200"/>
            <a:ext cx="27431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1300">
                <a:solidFill>
                  <a:srgbClr val="9CA3AF"/>
                </a:solidFill>
              </a:rPr>
              <a:t>первое радио-сообщение </a:t>
            </a:r>
            <a:endParaRPr lang="en-US" sz="1300"/>
          </a:p>
        </p:txBody>
      </p:sp>
      <p:sp>
        <p:nvSpPr>
          <p:cNvPr id="1066132474" name="Text 15"/>
          <p:cNvSpPr/>
          <p:nvPr/>
        </p:nvSpPr>
        <p:spPr bwMode="auto">
          <a:xfrm>
            <a:off x="4114800" y="4663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9CA3AF"/>
                </a:solidFill>
              </a:rPr>
              <a:t>Германское командование получило радиосигнал.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 i="1">
                <a:solidFill>
                  <a:srgbClr val="9CA3AF"/>
                </a:solidFill>
              </a:rPr>
              <a:t>Шерхорн живой. Держится. Просит помощи.</a:t>
            </a:r>
            <a:endParaRPr lang="en-US" sz="1100"/>
          </a:p>
        </p:txBody>
      </p:sp>
      <p:pic>
        <p:nvPicPr>
          <p:cNvPr id="1464977361" name="Picture 1" descr="Шерхорн, Генрих — Википедия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7472" y="235123"/>
            <a:ext cx="3455095" cy="4665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836680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71989153" name="Shape 1"/>
          <p:cNvSpPr/>
          <p:nvPr/>
        </p:nvSpPr>
        <p:spPr bwMode="auto">
          <a:xfrm>
            <a:off x="274320" y="274320"/>
            <a:ext cx="22860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72891048" name="Text 2"/>
          <p:cNvSpPr/>
          <p:nvPr/>
        </p:nvSpPr>
        <p:spPr bwMode="auto">
          <a:xfrm>
            <a:off x="27432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ОПЕРАЦИЯ СПАСЕНИЯ</a:t>
            </a:r>
            <a:endParaRPr lang="en-US" sz="900"/>
          </a:p>
        </p:txBody>
      </p:sp>
      <p:sp>
        <p:nvSpPr>
          <p:cNvPr id="1202985273" name="Text 4"/>
          <p:cNvSpPr/>
          <p:nvPr/>
        </p:nvSpPr>
        <p:spPr bwMode="auto">
          <a:xfrm>
            <a:off x="226806" y="1808181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За операцию назначают</a:t>
            </a:r>
            <a:endParaRPr lang="en-US" sz="1800"/>
          </a:p>
          <a:p>
            <a:pPr marL="0" indent="0">
              <a:buNone/>
              <a:defRPr/>
            </a:pPr>
            <a:r>
              <a:rPr lang="en-US" sz="18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Отто Скорцени —</a:t>
            </a:r>
            <a:r>
              <a:rPr lang="ru-RU" sz="18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1" i="0" u="none" strike="noStrike" cap="none" spc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лучшего диверсанта Рейха.</a:t>
            </a:r>
            <a:endParaRPr lang="en-US" sz="1800"/>
          </a:p>
        </p:txBody>
      </p:sp>
      <p:sp>
        <p:nvSpPr>
          <p:cNvPr id="1827538045" name="Text 5"/>
          <p:cNvSpPr/>
          <p:nvPr/>
        </p:nvSpPr>
        <p:spPr bwMode="auto">
          <a:xfrm>
            <a:off x="274320" y="951603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2 500 солдат в советском тылу — это стратегический актив. Германия решает их спасти любой ценой.</a:t>
            </a:r>
            <a:endParaRPr lang="en-US" sz="1800"/>
          </a:p>
        </p:txBody>
      </p:sp>
      <p:sp>
        <p:nvSpPr>
          <p:cNvPr id="1375925092" name="Text 6"/>
          <p:cNvSpPr/>
          <p:nvPr/>
        </p:nvSpPr>
        <p:spPr bwMode="auto">
          <a:xfrm>
            <a:off x="226806" y="257175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9CA3AF"/>
                </a:solidFill>
              </a:rPr>
              <a:t>Человек, который вытащил Муссолини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rgbClr val="9CA3AF"/>
                </a:solidFill>
              </a:rPr>
              <a:t>из горной тюрьмы.</a:t>
            </a:r>
            <a:endParaRPr lang="en-US" sz="1400"/>
          </a:p>
        </p:txBody>
      </p:sp>
      <p:sp>
        <p:nvSpPr>
          <p:cNvPr id="1954109434" name="Text 7"/>
          <p:cNvSpPr/>
          <p:nvPr/>
        </p:nvSpPr>
        <p:spPr bwMode="auto">
          <a:xfrm>
            <a:off x="274320" y="35661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Агенты-связные на парашютах</a:t>
            </a: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→  Оружие и боеприпасы</a:t>
            </a: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 Медикаменты</a:t>
            </a:r>
            <a:endParaRPr lang="en-US" sz="130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→  Золото и деньги</a:t>
            </a:r>
            <a:endParaRPr lang="en-US" sz="1300"/>
          </a:p>
        </p:txBody>
      </p:sp>
      <p:sp>
        <p:nvSpPr>
          <p:cNvPr id="872868316" name="Text 9"/>
          <p:cNvSpPr/>
          <p:nvPr/>
        </p:nvSpPr>
        <p:spPr bwMode="auto">
          <a:xfrm>
            <a:off x="5303520" y="27432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[ ВСТАВИТЬ: Фото Отто Скорцени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(Bundesarchiv, public domain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Поиск: «Otto Skorzeny Bundesarchiv») ]</a:t>
            </a:r>
            <a:endParaRPr lang="en-US" sz="1000"/>
          </a:p>
        </p:txBody>
      </p:sp>
      <p:pic>
        <p:nvPicPr>
          <p:cNvPr id="757650717" name="Picture 1" descr="Скорцени, Отто — Википедия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67089" y="360384"/>
            <a:ext cx="3243719" cy="4414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937170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54531708" name="Shape 1"/>
          <p:cNvSpPr/>
          <p:nvPr/>
        </p:nvSpPr>
        <p:spPr bwMode="auto">
          <a:xfrm>
            <a:off x="274320" y="274320"/>
            <a:ext cx="292608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77715125" name="Text 2"/>
          <p:cNvSpPr/>
          <p:nvPr/>
        </p:nvSpPr>
        <p:spPr bwMode="auto">
          <a:xfrm>
            <a:off x="274320" y="274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АВГУСТ 1944 — МАЙ 1945</a:t>
            </a:r>
            <a:endParaRPr lang="en-US" sz="900"/>
          </a:p>
        </p:txBody>
      </p:sp>
      <p:sp>
        <p:nvSpPr>
          <p:cNvPr id="465148543" name="Text 3"/>
          <p:cNvSpPr/>
          <p:nvPr/>
        </p:nvSpPr>
        <p:spPr bwMode="auto">
          <a:xfrm>
            <a:off x="274320" y="685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Восемь месяцев</a:t>
            </a:r>
            <a:endParaRPr lang="en-US" sz="3600"/>
          </a:p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сопротивления.</a:t>
            </a:r>
            <a:endParaRPr lang="en-US" sz="3600"/>
          </a:p>
        </p:txBody>
      </p:sp>
      <p:sp>
        <p:nvSpPr>
          <p:cNvPr id="704121136" name="Shape 4"/>
          <p:cNvSpPr/>
          <p:nvPr/>
        </p:nvSpPr>
        <p:spPr bwMode="auto">
          <a:xfrm>
            <a:off x="228600" y="2039112"/>
            <a:ext cx="164592" cy="16459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31663404" name="Shape 5"/>
          <p:cNvSpPr/>
          <p:nvPr/>
        </p:nvSpPr>
        <p:spPr bwMode="auto">
          <a:xfrm>
            <a:off x="301752" y="2203704"/>
            <a:ext cx="18288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4065380" name="Text 6"/>
          <p:cNvSpPr/>
          <p:nvPr/>
        </p:nvSpPr>
        <p:spPr bwMode="auto">
          <a:xfrm>
            <a:off x="50292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9CA3AF"/>
                </a:solidFill>
              </a:rPr>
              <a:t>Авг 1944</a:t>
            </a:r>
            <a:endParaRPr lang="en-US" sz="1000"/>
          </a:p>
        </p:txBody>
      </p:sp>
      <p:sp>
        <p:nvSpPr>
          <p:cNvPr id="549025823" name="Text 7"/>
          <p:cNvSpPr/>
          <p:nvPr/>
        </p:nvSpPr>
        <p:spPr bwMode="auto">
          <a:xfrm>
            <a:off x="182880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CA3AF"/>
                </a:solidFill>
              </a:rPr>
              <a:t>Первое радиосообщение от Шерхорна</a:t>
            </a:r>
            <a:endParaRPr lang="en-US" sz="1200"/>
          </a:p>
        </p:txBody>
      </p:sp>
      <p:sp>
        <p:nvSpPr>
          <p:cNvPr id="1409884459" name="Shape 8"/>
          <p:cNvSpPr/>
          <p:nvPr/>
        </p:nvSpPr>
        <p:spPr bwMode="auto">
          <a:xfrm>
            <a:off x="228600" y="2633472"/>
            <a:ext cx="164592" cy="16459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58276906" name="Shape 9"/>
          <p:cNvSpPr/>
          <p:nvPr/>
        </p:nvSpPr>
        <p:spPr bwMode="auto">
          <a:xfrm>
            <a:off x="301752" y="2798064"/>
            <a:ext cx="18288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78663872" name="Text 10"/>
          <p:cNvSpPr/>
          <p:nvPr/>
        </p:nvSpPr>
        <p:spPr bwMode="auto">
          <a:xfrm>
            <a:off x="5029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9CA3AF"/>
                </a:solidFill>
              </a:rPr>
              <a:t>Сен 1944</a:t>
            </a:r>
            <a:endParaRPr lang="en-US" sz="1000"/>
          </a:p>
        </p:txBody>
      </p:sp>
      <p:sp>
        <p:nvSpPr>
          <p:cNvPr id="68886006" name="Text 11"/>
          <p:cNvSpPr/>
          <p:nvPr/>
        </p:nvSpPr>
        <p:spPr bwMode="auto">
          <a:xfrm>
            <a:off x="18288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CA3AF"/>
                </a:solidFill>
              </a:rPr>
              <a:t>Германия сбрасывает первых агентов-связных</a:t>
            </a:r>
            <a:endParaRPr lang="en-US" sz="1200"/>
          </a:p>
        </p:txBody>
      </p:sp>
      <p:sp>
        <p:nvSpPr>
          <p:cNvPr id="590398869" name="Shape 12"/>
          <p:cNvSpPr/>
          <p:nvPr/>
        </p:nvSpPr>
        <p:spPr bwMode="auto">
          <a:xfrm>
            <a:off x="228600" y="3227832"/>
            <a:ext cx="164592" cy="16459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49616873" name="Shape 13"/>
          <p:cNvSpPr/>
          <p:nvPr/>
        </p:nvSpPr>
        <p:spPr bwMode="auto">
          <a:xfrm>
            <a:off x="301752" y="3392424"/>
            <a:ext cx="18288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3108422" name="Text 14"/>
          <p:cNvSpPr/>
          <p:nvPr/>
        </p:nvSpPr>
        <p:spPr bwMode="auto">
          <a:xfrm>
            <a:off x="50292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9CA3AF"/>
                </a:solidFill>
              </a:rPr>
              <a:t>Ноя 1944</a:t>
            </a:r>
            <a:endParaRPr lang="en-US" sz="1000"/>
          </a:p>
        </p:txBody>
      </p:sp>
      <p:sp>
        <p:nvSpPr>
          <p:cNvPr id="537037748" name="Text 15"/>
          <p:cNvSpPr/>
          <p:nvPr/>
        </p:nvSpPr>
        <p:spPr bwMode="auto">
          <a:xfrm>
            <a:off x="182880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9CA3AF"/>
                </a:solidFill>
              </a:rPr>
              <a:t>Шерхорн произведён в полковники</a:t>
            </a:r>
            <a:endParaRPr lang="en-US" sz="1200"/>
          </a:p>
        </p:txBody>
      </p:sp>
      <p:sp>
        <p:nvSpPr>
          <p:cNvPr id="1952877945" name="Shape 16"/>
          <p:cNvSpPr/>
          <p:nvPr/>
        </p:nvSpPr>
        <p:spPr bwMode="auto">
          <a:xfrm>
            <a:off x="228600" y="3822192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7460415" name="Shape 17"/>
          <p:cNvSpPr/>
          <p:nvPr/>
        </p:nvSpPr>
        <p:spPr bwMode="auto">
          <a:xfrm>
            <a:off x="301752" y="3986784"/>
            <a:ext cx="18288" cy="45720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84749533" name="Text 18"/>
          <p:cNvSpPr/>
          <p:nvPr/>
        </p:nvSpPr>
        <p:spPr bwMode="auto">
          <a:xfrm>
            <a:off x="50292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EF4444"/>
                </a:solidFill>
              </a:rPr>
              <a:t>Янв 1945</a:t>
            </a:r>
            <a:endParaRPr lang="en-US" sz="1000"/>
          </a:p>
        </p:txBody>
      </p:sp>
      <p:sp>
        <p:nvSpPr>
          <p:cNvPr id="323562807" name="Text 19"/>
          <p:cNvSpPr/>
          <p:nvPr/>
        </p:nvSpPr>
        <p:spPr bwMode="auto">
          <a:xfrm>
            <a:off x="1828800" y="3749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FFFFFF"/>
                </a:solidFill>
              </a:rPr>
              <a:t>Гитлер лично награждает его Железным крестом</a:t>
            </a:r>
            <a:endParaRPr lang="en-US" sz="1200"/>
          </a:p>
        </p:txBody>
      </p:sp>
      <p:sp>
        <p:nvSpPr>
          <p:cNvPr id="427755782" name="Shape 20"/>
          <p:cNvSpPr/>
          <p:nvPr/>
        </p:nvSpPr>
        <p:spPr bwMode="auto">
          <a:xfrm>
            <a:off x="228600" y="4416552"/>
            <a:ext cx="164592" cy="164592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580329686" name="Text 21"/>
          <p:cNvSpPr/>
          <p:nvPr/>
        </p:nvSpPr>
        <p:spPr bwMode="auto">
          <a:xfrm>
            <a:off x="50292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 spc="100">
                <a:solidFill>
                  <a:srgbClr val="9CA3AF"/>
                </a:solidFill>
              </a:rPr>
              <a:t>Май 1945</a:t>
            </a:r>
            <a:endParaRPr lang="en-US" sz="1000"/>
          </a:p>
        </p:txBody>
      </p:sp>
      <p:sp>
        <p:nvSpPr>
          <p:cNvPr id="356044110" name="Text 22"/>
          <p:cNvSpPr/>
          <p:nvPr/>
        </p:nvSpPr>
        <p:spPr bwMode="auto">
          <a:xfrm>
            <a:off x="18288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 spc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Май 1945. Связь обрывается. Германия капитулирует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/>
          </a:p>
        </p:txBody>
      </p:sp>
      <p:sp>
        <p:nvSpPr>
          <p:cNvPr id="652516737" name="Shape 23"/>
          <p:cNvSpPr/>
          <p:nvPr/>
        </p:nvSpPr>
        <p:spPr bwMode="auto">
          <a:xfrm>
            <a:off x="6400800" y="2331720"/>
            <a:ext cx="16459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61914520" name="Shape 24"/>
          <p:cNvSpPr/>
          <p:nvPr/>
        </p:nvSpPr>
        <p:spPr bwMode="auto">
          <a:xfrm>
            <a:off x="6995160" y="1737360"/>
            <a:ext cx="45720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23067879" name="Text 25"/>
          <p:cNvSpPr/>
          <p:nvPr/>
        </p:nvSpPr>
        <p:spPr bwMode="auto">
          <a:xfrm>
            <a:off x="640080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CA3AF"/>
                </a:solidFill>
              </a:rPr>
              <a:t>✕</a:t>
            </a:r>
            <a:endParaRPr lang="en-US" sz="1100"/>
          </a:p>
        </p:txBody>
      </p:sp>
      <p:sp>
        <p:nvSpPr>
          <p:cNvPr id="1176997625" name="Text 26"/>
          <p:cNvSpPr/>
          <p:nvPr/>
        </p:nvSpPr>
        <p:spPr bwMode="auto">
          <a:xfrm>
            <a:off x="5303520" y="3566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spc="200">
                <a:solidFill>
                  <a:srgbClr val="9CA3AF"/>
                </a:solidFill>
              </a:rPr>
              <a:t>EISERNES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spc="200">
                <a:solidFill>
                  <a:srgbClr val="9CA3AF"/>
                </a:solidFill>
              </a:rPr>
              <a:t>KREUZ</a:t>
            </a:r>
            <a:endParaRPr lang="en-US" sz="1000"/>
          </a:p>
        </p:txBody>
      </p:sp>
      <p:pic>
        <p:nvPicPr>
          <p:cNvPr id="40997599" name="Picture 2" descr="Сувенирная медаль Железный крест немецкий для коллекции и подарка – купить  в интернет-магазине Фантазия Мир на Яндекс Маркете, 4829272450"/>
          <p:cNvPicPr>
            <a:picLocks noChangeAspect="1"/>
          </p:cNvPicPr>
          <p:nvPr/>
        </p:nvPicPr>
        <p:blipFill rotWithShape="1">
          <a:blip r:embed="rId3"/>
          <a:srcRect l="6410" t="5567" r="3384" b="1433"/>
          <a:stretch/>
        </p:blipFill>
        <p:spPr bwMode="auto">
          <a:xfrm>
            <a:off x="5476222" y="939452"/>
            <a:ext cx="3305038" cy="3392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11182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957597" name="Text 0"/>
          <p:cNvSpPr/>
          <p:nvPr/>
        </p:nvSpPr>
        <p:spPr bwMode="auto">
          <a:xfrm>
            <a:off x="6366087" y="-457200"/>
            <a:ext cx="2263588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34000">
                <a:solidFill>
                  <a:srgbClr val="1F2937"/>
                </a:solidFill>
                <a:latin typeface="Impact"/>
                <a:ea typeface="Impact"/>
                <a:cs typeface="Impact"/>
              </a:rPr>
              <a:t>?</a:t>
            </a:r>
            <a:endParaRPr lang="en-US" sz="34000"/>
          </a:p>
        </p:txBody>
      </p:sp>
      <p:sp>
        <p:nvSpPr>
          <p:cNvPr id="4993829" name="Shape 1"/>
          <p:cNvSpPr/>
          <p:nvPr/>
        </p:nvSpPr>
        <p:spPr bwMode="auto">
          <a:xfrm>
            <a:off x="0" y="0"/>
            <a:ext cx="73152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99422497" name="Text 2"/>
          <p:cNvSpPr/>
          <p:nvPr/>
        </p:nvSpPr>
        <p:spPr bwMode="auto">
          <a:xfrm>
            <a:off x="274320" y="114300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Кто-нибудь слышал</a:t>
            </a:r>
            <a:endParaRPr lang="en-US" sz="4200"/>
          </a:p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об этом подвиге раньше?</a:t>
            </a:r>
            <a:endParaRPr lang="en-US" sz="4200"/>
          </a:p>
        </p:txBody>
      </p:sp>
      <p:sp>
        <p:nvSpPr>
          <p:cNvPr id="1680195306" name="Text 3"/>
          <p:cNvSpPr/>
          <p:nvPr/>
        </p:nvSpPr>
        <p:spPr bwMode="auto">
          <a:xfrm>
            <a:off x="274320" y="3108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i="1">
                <a:solidFill>
                  <a:srgbClr val="EF4444"/>
                </a:solidFill>
                <a:latin typeface="Georgia"/>
                <a:ea typeface="Georgia"/>
                <a:cs typeface="Georgia"/>
              </a:rPr>
              <a:t>Только честно.</a:t>
            </a:r>
            <a:endParaRPr lang="en-US" sz="2800"/>
          </a:p>
        </p:txBody>
      </p:sp>
      <p:sp>
        <p:nvSpPr>
          <p:cNvPr id="155474700" name="Shape 4"/>
          <p:cNvSpPr/>
          <p:nvPr/>
        </p:nvSpPr>
        <p:spPr bwMode="auto">
          <a:xfrm>
            <a:off x="274320" y="4526280"/>
            <a:ext cx="8503920" cy="1829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7F1D1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11227" name="Shape 0"/>
          <p:cNvSpPr/>
          <p:nvPr/>
        </p:nvSpPr>
        <p:spPr bwMode="auto">
          <a:xfrm>
            <a:off x="-914400" y="2286000"/>
            <a:ext cx="10972800" cy="1097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06808897" name="Text 1"/>
          <p:cNvSpPr/>
          <p:nvPr/>
        </p:nvSpPr>
        <p:spPr bwMode="auto">
          <a:xfrm>
            <a:off x="365760" y="2743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0" b="1">
                <a:solidFill>
                  <a:srgbClr val="FFFFFF"/>
                </a:solidFill>
                <a:latin typeface="Impact"/>
                <a:ea typeface="Impact"/>
                <a:cs typeface="Impact"/>
              </a:rPr>
              <a:t>ВСЕГО ЭТОГО</a:t>
            </a:r>
            <a:endParaRPr lang="en-US" sz="8000"/>
          </a:p>
        </p:txBody>
      </p:sp>
      <p:sp>
        <p:nvSpPr>
          <p:cNvPr id="1409743209" name="Text 2"/>
          <p:cNvSpPr/>
          <p:nvPr/>
        </p:nvSpPr>
        <p:spPr bwMode="auto">
          <a:xfrm>
            <a:off x="365760" y="128016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000" b="1">
                <a:solidFill>
                  <a:srgbClr val="FCA5A5"/>
                </a:solidFill>
                <a:latin typeface="Impact"/>
                <a:ea typeface="Impact"/>
                <a:cs typeface="Impact"/>
              </a:rPr>
              <a:t>НЕ БЫЛО.</a:t>
            </a:r>
            <a:endParaRPr lang="en-US" sz="8000"/>
          </a:p>
        </p:txBody>
      </p:sp>
      <p:sp>
        <p:nvSpPr>
          <p:cNvPr id="1289633107" name="Text 3"/>
          <p:cNvSpPr/>
          <p:nvPr/>
        </p:nvSpPr>
        <p:spPr bwMode="auto">
          <a:xfrm>
            <a:off x="548640" y="26517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▸  Шерхорн сидел в советском плену с первого дня.</a:t>
            </a:r>
            <a:endParaRPr lang="en-US" sz="15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500">
                <a:solidFill>
                  <a:srgbClr val="FCA5A5"/>
                </a:solidFill>
                <a:latin typeface="Calibri"/>
                <a:ea typeface="Calibri"/>
                <a:cs typeface="Calibri"/>
              </a:rPr>
              <a:t>▸  Каждый агент, сброшенный Германией, попадал в руки НКВД.</a:t>
            </a:r>
            <a:endParaRPr lang="en-US" sz="15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500">
                <a:solidFill>
                  <a:srgbClr val="FCA5A5"/>
                </a:solidFill>
                <a:latin typeface="Calibri"/>
                <a:ea typeface="Calibri"/>
                <a:cs typeface="Calibri"/>
              </a:rPr>
              <a:t>▸  Радиосигналы отправляли советские операторы.</a:t>
            </a:r>
            <a:endParaRPr lang="en-US" sz="15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500">
                <a:solidFill>
                  <a:srgbClr val="FCA5A5"/>
                </a:solidFill>
                <a:latin typeface="Calibri"/>
                <a:ea typeface="Calibri"/>
                <a:cs typeface="Calibri"/>
              </a:rPr>
              <a:t>▸  Оружие и золото шли на советские склады.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0D111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022322" name="Shape 0"/>
          <p:cNvSpPr/>
          <p:nvPr/>
        </p:nvSpPr>
        <p:spPr bwMode="auto">
          <a:xfrm>
            <a:off x="0" y="0"/>
            <a:ext cx="54864" cy="51435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98295748" name="Shape 1"/>
          <p:cNvSpPr/>
          <p:nvPr/>
        </p:nvSpPr>
        <p:spPr bwMode="auto">
          <a:xfrm>
            <a:off x="274320" y="274320"/>
            <a:ext cx="41148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09034926" name="Text 2"/>
          <p:cNvSpPr/>
          <p:nvPr/>
        </p:nvSpPr>
        <p:spPr bwMode="auto">
          <a:xfrm>
            <a:off x="274320" y="274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</a:rPr>
              <a:t>ОПЕРАЦИЯ «БЕРЕЗИНО» · НКВД · 1944–1945</a:t>
            </a:r>
            <a:endParaRPr lang="en-US" sz="900"/>
          </a:p>
        </p:txBody>
      </p:sp>
      <p:sp>
        <p:nvSpPr>
          <p:cNvPr id="1298717196" name="Text 3"/>
          <p:cNvSpPr/>
          <p:nvPr/>
        </p:nvSpPr>
        <p:spPr bwMode="auto">
          <a:xfrm>
            <a:off x="274320" y="731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Операция «Березино».</a:t>
            </a:r>
            <a:endParaRPr lang="en-US" sz="3400"/>
          </a:p>
        </p:txBody>
      </p:sp>
      <p:sp>
        <p:nvSpPr>
          <p:cNvPr id="593823532" name="Shape 4"/>
          <p:cNvSpPr/>
          <p:nvPr/>
        </p:nvSpPr>
        <p:spPr bwMode="auto">
          <a:xfrm>
            <a:off x="274320" y="1600200"/>
            <a:ext cx="2331720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24480675" name="Text 5"/>
          <p:cNvSpPr/>
          <p:nvPr/>
        </p:nvSpPr>
        <p:spPr bwMode="auto">
          <a:xfrm>
            <a:off x="365760" y="1645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F4444"/>
                </a:solidFill>
                <a:latin typeface="Impact"/>
                <a:ea typeface="Impact"/>
                <a:cs typeface="Impact"/>
              </a:rPr>
              <a:t>39</a:t>
            </a:r>
            <a:endParaRPr lang="en-US" sz="3000"/>
          </a:p>
        </p:txBody>
      </p:sp>
      <p:sp>
        <p:nvSpPr>
          <p:cNvPr id="386016480" name="Text 6"/>
          <p:cNvSpPr/>
          <p:nvPr/>
        </p:nvSpPr>
        <p:spPr bwMode="auto">
          <a:xfrm>
            <a:off x="365760" y="21488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CA3AF"/>
                </a:solidFill>
              </a:rPr>
              <a:t>немецких агентов захвачено</a:t>
            </a:r>
            <a:endParaRPr lang="en-US" sz="1100"/>
          </a:p>
        </p:txBody>
      </p:sp>
      <p:sp>
        <p:nvSpPr>
          <p:cNvPr id="2116423682" name="Shape 7"/>
          <p:cNvSpPr/>
          <p:nvPr/>
        </p:nvSpPr>
        <p:spPr bwMode="auto">
          <a:xfrm>
            <a:off x="2788920" y="1600200"/>
            <a:ext cx="2331720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50085419" name="Text 8"/>
          <p:cNvSpPr/>
          <p:nvPr/>
        </p:nvSpPr>
        <p:spPr bwMode="auto">
          <a:xfrm>
            <a:off x="2880360" y="1645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F4444"/>
                </a:solidFill>
                <a:latin typeface="Impact"/>
                <a:ea typeface="Impact"/>
                <a:cs typeface="Impact"/>
              </a:rPr>
              <a:t>13</a:t>
            </a:r>
            <a:endParaRPr lang="en-US" sz="3000"/>
          </a:p>
        </p:txBody>
      </p:sp>
      <p:sp>
        <p:nvSpPr>
          <p:cNvPr id="1123335353" name="Text 9"/>
          <p:cNvSpPr/>
          <p:nvPr/>
        </p:nvSpPr>
        <p:spPr bwMode="auto">
          <a:xfrm>
            <a:off x="2880360" y="21488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CA3AF"/>
                </a:solidFill>
              </a:rPr>
              <a:t>немецких рации перехвачено</a:t>
            </a:r>
            <a:endParaRPr lang="en-US" sz="1100"/>
          </a:p>
        </p:txBody>
      </p:sp>
      <p:sp>
        <p:nvSpPr>
          <p:cNvPr id="1758582701" name="Shape 10"/>
          <p:cNvSpPr/>
          <p:nvPr/>
        </p:nvSpPr>
        <p:spPr bwMode="auto">
          <a:xfrm>
            <a:off x="274320" y="2788920"/>
            <a:ext cx="2331720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23759637" name="Text 11"/>
          <p:cNvSpPr/>
          <p:nvPr/>
        </p:nvSpPr>
        <p:spPr bwMode="auto">
          <a:xfrm>
            <a:off x="36576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F4444"/>
                </a:solidFill>
                <a:latin typeface="Impact"/>
                <a:ea typeface="Impact"/>
                <a:cs typeface="Impact"/>
              </a:rPr>
              <a:t>8 мес.</a:t>
            </a:r>
            <a:endParaRPr lang="en-US" sz="3000"/>
          </a:p>
        </p:txBody>
      </p:sp>
      <p:sp>
        <p:nvSpPr>
          <p:cNvPr id="680340053" name="Text 12"/>
          <p:cNvSpPr/>
          <p:nvPr/>
        </p:nvSpPr>
        <p:spPr bwMode="auto">
          <a:xfrm>
            <a:off x="365760" y="3337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CA3AF"/>
                </a:solidFill>
              </a:rPr>
              <a:t>Германия снабжала несуществующую армию</a:t>
            </a:r>
            <a:endParaRPr lang="en-US" sz="1100"/>
          </a:p>
        </p:txBody>
      </p:sp>
      <p:sp>
        <p:nvSpPr>
          <p:cNvPr id="1222189568" name="Shape 13"/>
          <p:cNvSpPr/>
          <p:nvPr/>
        </p:nvSpPr>
        <p:spPr bwMode="auto">
          <a:xfrm>
            <a:off x="2788920" y="2788920"/>
            <a:ext cx="2331720" cy="1005840"/>
          </a:xfrm>
          <a:prstGeom prst="rect">
            <a:avLst/>
          </a:prstGeom>
          <a:solidFill>
            <a:srgbClr val="161B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47526597" name="Text 14"/>
          <p:cNvSpPr/>
          <p:nvPr/>
        </p:nvSpPr>
        <p:spPr bwMode="auto">
          <a:xfrm>
            <a:off x="2880360" y="2834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EF4444"/>
                </a:solidFill>
                <a:latin typeface="Impact"/>
                <a:ea typeface="Impact"/>
                <a:cs typeface="Impact"/>
              </a:rPr>
              <a:t>1</a:t>
            </a:r>
            <a:endParaRPr lang="en-US" sz="3000"/>
          </a:p>
        </p:txBody>
      </p:sp>
      <p:sp>
        <p:nvSpPr>
          <p:cNvPr id="697899038" name="Text 15"/>
          <p:cNvSpPr/>
          <p:nvPr/>
        </p:nvSpPr>
        <p:spPr bwMode="auto">
          <a:xfrm>
            <a:off x="2880360" y="33375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9CA3AF"/>
                </a:solidFill>
              </a:rPr>
              <a:t>Железный крест — для пленного</a:t>
            </a:r>
            <a:endParaRPr lang="en-US" sz="1100"/>
          </a:p>
        </p:txBody>
      </p:sp>
      <p:sp>
        <p:nvSpPr>
          <p:cNvPr id="1389608704" name="Text 16"/>
          <p:cNvSpPr/>
          <p:nvPr/>
        </p:nvSpPr>
        <p:spPr bwMode="auto">
          <a:xfrm>
            <a:off x="274320" y="398828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sz="1200" i="1">
                <a:solidFill>
                  <a:srgbClr val="9CA3AF"/>
                </a:solidFill>
              </a:rPr>
              <a:t>Операцию предложил лично Сталин.</a:t>
            </a:r>
            <a:endParaRPr lang="en-US" sz="1200"/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1200" i="1">
                <a:solidFill>
                  <a:srgbClr val="9CA3AF"/>
                </a:solidFill>
              </a:rPr>
              <a:t>Исполнитель — Павел Судоплатов, генерал-лейтенант НКВД.</a:t>
            </a:r>
            <a:endParaRPr lang="en-US" sz="1200"/>
          </a:p>
        </p:txBody>
      </p:sp>
      <p:sp>
        <p:nvSpPr>
          <p:cNvPr id="272712920" name="Text 18"/>
          <p:cNvSpPr/>
          <p:nvPr/>
        </p:nvSpPr>
        <p:spPr bwMode="auto">
          <a:xfrm>
            <a:off x="5349240" y="274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[ ВСТАВИТЬ: Фото Павла Судоплатова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(Wikipedia, public domain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Поиск: «Pavel Sudoplatov wikipedia») ]</a:t>
            </a:r>
            <a:endParaRPr lang="en-US" sz="1000"/>
          </a:p>
        </p:txBody>
      </p:sp>
      <p:sp>
        <p:nvSpPr>
          <p:cNvPr id="1695031978" name="Text 19"/>
          <p:cNvSpPr/>
          <p:nvPr/>
        </p:nvSpPr>
        <p:spPr bwMode="auto">
          <a:xfrm>
            <a:off x="534924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Судоплатов пережил войну, плен Берии и написал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9CA3AF"/>
                </a:solidFill>
              </a:rPr>
              <a:t>мемуары в 1994 году. Умер в 96 лет.</a:t>
            </a:r>
            <a:endParaRPr lang="en-US" sz="1000"/>
          </a:p>
        </p:txBody>
      </p:sp>
      <p:sp>
        <p:nvSpPr>
          <p:cNvPr id="1405962147" name="Shape 20"/>
          <p:cNvSpPr/>
          <p:nvPr/>
        </p:nvSpPr>
        <p:spPr bwMode="auto">
          <a:xfrm>
            <a:off x="0" y="4773168"/>
            <a:ext cx="914400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27709037" name="Text 21"/>
          <p:cNvSpPr/>
          <p:nvPr/>
        </p:nvSpPr>
        <p:spPr bwMode="auto"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 spc="100">
                <a:solidFill>
                  <a:srgbClr val="FFFFFF"/>
                </a:solidFill>
              </a:rPr>
              <a:t>Германия так и не узнала правды до конца войны.</a:t>
            </a:r>
            <a:endParaRPr lang="en-US" sz="1200"/>
          </a:p>
        </p:txBody>
      </p:sp>
      <p:pic>
        <p:nvPicPr>
          <p:cNvPr id="56105285" name="Picture 1" descr="Павл Судоплатов: легендарные спецоперации советского диверсанта -  Рамблер/новости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12393" y="791488"/>
            <a:ext cx="3933172" cy="3004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ONLYOFFICE/9.3.0.140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Группа Шерхорна — Операция Березино</dc:title>
  <dc:subject>PptxGenJS Presentation</dc:subject>
  <dc:creator>PptxGenJS</dc:creator>
  <cp:lastModifiedBy/>
  <cp:revision>35</cp:revision>
  <dcterms:created xsi:type="dcterms:W3CDTF">2026-05-08T07:51:30Z</dcterms:created>
  <dcterms:modified xsi:type="dcterms:W3CDTF">2026-05-08T06:29:50Z</dcterms:modified>
</cp:coreProperties>
</file>