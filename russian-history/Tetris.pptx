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475829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130012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57074123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1719921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1646912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541691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4232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22853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770632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31570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12492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52087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7486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56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113747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98004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19278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3906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50247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5748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07322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16527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13504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738523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726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6973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46554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1359460" name="Shape 0"/>
          <p:cNvSpPr/>
          <p:nvPr/>
        </p:nvSpPr>
        <p:spPr bwMode="auto">
          <a:xfrm>
            <a:off x="7315200" y="91440"/>
            <a:ext cx="320040" cy="320040"/>
          </a:xfrm>
          <a:prstGeom prst="rect">
            <a:avLst/>
          </a:prstGeom>
          <a:solidFill>
            <a:srgbClr val="E94560"/>
          </a:solidFill>
          <a:ln w="25400">
            <a:solidFill>
              <a:srgbClr val="1A1A2E"/>
            </a:solidFill>
            <a:prstDash val="solid"/>
          </a:ln>
        </p:spPr>
      </p:sp>
      <p:sp>
        <p:nvSpPr>
          <p:cNvPr id="735573247" name="Shape 1"/>
          <p:cNvSpPr/>
          <p:nvPr/>
        </p:nvSpPr>
        <p:spPr bwMode="auto">
          <a:xfrm>
            <a:off x="7680960" y="91440"/>
            <a:ext cx="320040" cy="320040"/>
          </a:xfrm>
          <a:prstGeom prst="rect">
            <a:avLst/>
          </a:prstGeom>
          <a:solidFill>
            <a:srgbClr val="0F9B58"/>
          </a:solidFill>
          <a:ln w="25400">
            <a:solidFill>
              <a:srgbClr val="1A1A2E"/>
            </a:solidFill>
            <a:prstDash val="solid"/>
          </a:ln>
        </p:spPr>
      </p:sp>
      <p:sp>
        <p:nvSpPr>
          <p:cNvPr id="1609641350" name="Shape 2"/>
          <p:cNvSpPr/>
          <p:nvPr/>
        </p:nvSpPr>
        <p:spPr bwMode="auto">
          <a:xfrm>
            <a:off x="8046720" y="91440"/>
            <a:ext cx="320040" cy="320040"/>
          </a:xfrm>
          <a:prstGeom prst="rect">
            <a:avLst/>
          </a:prstGeom>
          <a:solidFill>
            <a:srgbClr val="F5A623"/>
          </a:solidFill>
          <a:ln w="25400">
            <a:solidFill>
              <a:srgbClr val="1A1A2E"/>
            </a:solidFill>
            <a:prstDash val="solid"/>
          </a:ln>
        </p:spPr>
      </p:sp>
      <p:sp>
        <p:nvSpPr>
          <p:cNvPr id="2100499799" name="Shape 3"/>
          <p:cNvSpPr/>
          <p:nvPr/>
        </p:nvSpPr>
        <p:spPr bwMode="auto">
          <a:xfrm>
            <a:off x="8412480" y="91440"/>
            <a:ext cx="320040" cy="320040"/>
          </a:xfrm>
          <a:prstGeom prst="rect">
            <a:avLst/>
          </a:prstGeom>
          <a:solidFill>
            <a:srgbClr val="3B82F6"/>
          </a:solidFill>
          <a:ln w="25400">
            <a:solidFill>
              <a:srgbClr val="1A1A2E"/>
            </a:solidFill>
            <a:prstDash val="solid"/>
          </a:ln>
        </p:spPr>
      </p:sp>
      <p:sp>
        <p:nvSpPr>
          <p:cNvPr id="1452097055" name="Shape 4"/>
          <p:cNvSpPr/>
          <p:nvPr/>
        </p:nvSpPr>
        <p:spPr bwMode="auto">
          <a:xfrm>
            <a:off x="7315200" y="457200"/>
            <a:ext cx="320040" cy="320040"/>
          </a:xfrm>
          <a:prstGeom prst="rect">
            <a:avLst/>
          </a:prstGeom>
          <a:solidFill>
            <a:srgbClr val="A855F7"/>
          </a:solidFill>
          <a:ln w="25400">
            <a:solidFill>
              <a:srgbClr val="1A1A2E"/>
            </a:solidFill>
            <a:prstDash val="solid"/>
          </a:ln>
        </p:spPr>
      </p:sp>
      <p:sp>
        <p:nvSpPr>
          <p:cNvPr id="1258410973" name="Shape 5"/>
          <p:cNvSpPr/>
          <p:nvPr/>
        </p:nvSpPr>
        <p:spPr bwMode="auto">
          <a:xfrm>
            <a:off x="7680960" y="457200"/>
            <a:ext cx="320040" cy="320040"/>
          </a:xfrm>
          <a:prstGeom prst="rect">
            <a:avLst/>
          </a:prstGeom>
          <a:solidFill>
            <a:srgbClr val="E94560"/>
          </a:solidFill>
          <a:ln w="25400">
            <a:solidFill>
              <a:srgbClr val="1A1A2E"/>
            </a:solidFill>
            <a:prstDash val="solid"/>
          </a:ln>
        </p:spPr>
      </p:sp>
      <p:sp>
        <p:nvSpPr>
          <p:cNvPr id="144796375" name="Shape 6"/>
          <p:cNvSpPr/>
          <p:nvPr/>
        </p:nvSpPr>
        <p:spPr bwMode="auto">
          <a:xfrm>
            <a:off x="8046720" y="822960"/>
            <a:ext cx="320040" cy="320040"/>
          </a:xfrm>
          <a:prstGeom prst="rect">
            <a:avLst/>
          </a:prstGeom>
          <a:solidFill>
            <a:srgbClr val="0F9B58"/>
          </a:solidFill>
          <a:ln w="25400">
            <a:solidFill>
              <a:srgbClr val="1A1A2E"/>
            </a:solidFill>
            <a:prstDash val="solid"/>
          </a:ln>
        </p:spPr>
      </p:sp>
      <p:sp>
        <p:nvSpPr>
          <p:cNvPr id="519041422" name="Shape 7"/>
          <p:cNvSpPr/>
          <p:nvPr/>
        </p:nvSpPr>
        <p:spPr bwMode="auto">
          <a:xfrm>
            <a:off x="8412480" y="822960"/>
            <a:ext cx="320040" cy="320040"/>
          </a:xfrm>
          <a:prstGeom prst="rect">
            <a:avLst/>
          </a:prstGeom>
          <a:solidFill>
            <a:srgbClr val="F5A623"/>
          </a:solidFill>
          <a:ln w="25400">
            <a:solidFill>
              <a:srgbClr val="1A1A2E"/>
            </a:solidFill>
            <a:prstDash val="solid"/>
          </a:ln>
        </p:spPr>
      </p:sp>
      <p:sp>
        <p:nvSpPr>
          <p:cNvPr id="1000936058" name="Shape 8"/>
          <p:cNvSpPr/>
          <p:nvPr/>
        </p:nvSpPr>
        <p:spPr bwMode="auto">
          <a:xfrm>
            <a:off x="7315200" y="1188720"/>
            <a:ext cx="320040" cy="320040"/>
          </a:xfrm>
          <a:prstGeom prst="rect">
            <a:avLst/>
          </a:prstGeom>
          <a:solidFill>
            <a:srgbClr val="3B82F6"/>
          </a:solidFill>
          <a:ln w="25400">
            <a:solidFill>
              <a:srgbClr val="1A1A2E"/>
            </a:solidFill>
            <a:prstDash val="solid"/>
          </a:ln>
        </p:spPr>
      </p:sp>
      <p:sp>
        <p:nvSpPr>
          <p:cNvPr id="138219235" name="Shape 9"/>
          <p:cNvSpPr/>
          <p:nvPr/>
        </p:nvSpPr>
        <p:spPr bwMode="auto">
          <a:xfrm>
            <a:off x="7680960" y="1188720"/>
            <a:ext cx="320040" cy="320040"/>
          </a:xfrm>
          <a:prstGeom prst="rect">
            <a:avLst/>
          </a:prstGeom>
          <a:solidFill>
            <a:srgbClr val="A855F7"/>
          </a:solidFill>
          <a:ln w="25400">
            <a:solidFill>
              <a:srgbClr val="1A1A2E"/>
            </a:solidFill>
            <a:prstDash val="solid"/>
          </a:ln>
        </p:spPr>
      </p:sp>
      <p:sp>
        <p:nvSpPr>
          <p:cNvPr id="1891045296" name="Shape 10"/>
          <p:cNvSpPr/>
          <p:nvPr/>
        </p:nvSpPr>
        <p:spPr bwMode="auto">
          <a:xfrm>
            <a:off x="8046720" y="1188720"/>
            <a:ext cx="320040" cy="320040"/>
          </a:xfrm>
          <a:prstGeom prst="rect">
            <a:avLst/>
          </a:prstGeom>
          <a:solidFill>
            <a:srgbClr val="E94560"/>
          </a:solidFill>
          <a:ln w="25400">
            <a:solidFill>
              <a:srgbClr val="1A1A2E"/>
            </a:solidFill>
            <a:prstDash val="solid"/>
          </a:ln>
        </p:spPr>
      </p:sp>
      <p:sp>
        <p:nvSpPr>
          <p:cNvPr id="552492407" name="Shape 11"/>
          <p:cNvSpPr/>
          <p:nvPr/>
        </p:nvSpPr>
        <p:spPr bwMode="auto">
          <a:xfrm>
            <a:off x="457200" y="502920"/>
            <a:ext cx="2011680" cy="38404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45382484" name="Text 12"/>
          <p:cNvSpPr/>
          <p:nvPr/>
        </p:nvSpPr>
        <p:spPr bwMode="auto">
          <a:xfrm>
            <a:off x="457200" y="502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</a:rPr>
              <a:t>СССР, 1984</a:t>
            </a:r>
            <a:endParaRPr lang="en-US" sz="1300"/>
          </a:p>
        </p:txBody>
      </p:sp>
      <p:sp>
        <p:nvSpPr>
          <p:cNvPr id="156674407" name="Text 13"/>
          <p:cNvSpPr/>
          <p:nvPr/>
        </p:nvSpPr>
        <p:spPr bwMode="auto">
          <a:xfrm>
            <a:off x="457200" y="100584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>
                <a:solidFill>
                  <a:srgbClr val="FFFFFF"/>
                </a:solidFill>
                <a:latin typeface="Impact"/>
                <a:ea typeface="Impact"/>
                <a:cs typeface="Impact"/>
              </a:rPr>
              <a:t>ТЕТРИС</a:t>
            </a:r>
            <a:endParaRPr lang="en-US" sz="7200"/>
          </a:p>
        </p:txBody>
      </p:sp>
      <p:sp>
        <p:nvSpPr>
          <p:cNvPr id="1780396789" name="Text 14"/>
          <p:cNvSpPr/>
          <p:nvPr/>
        </p:nvSpPr>
        <p:spPr bwMode="auto">
          <a:xfrm>
            <a:off x="457200" y="26517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800">
                <a:solidFill>
                  <a:srgbClr val="C8D6E5"/>
                </a:solidFill>
              </a:rPr>
              <a:t>Игра, которая покорила мир.</a:t>
            </a:r>
            <a:endParaRPr lang="en-US" sz="1800"/>
          </a:p>
        </p:txBody>
      </p:sp>
      <p:sp>
        <p:nvSpPr>
          <p:cNvPr id="1256965548" name="Shape 15"/>
          <p:cNvSpPr/>
          <p:nvPr/>
        </p:nvSpPr>
        <p:spPr bwMode="auto">
          <a:xfrm>
            <a:off x="457200" y="3657600"/>
            <a:ext cx="3200400" cy="45720"/>
          </a:xfrm>
          <a:prstGeom prst="rect">
            <a:avLst/>
          </a:prstGeom>
          <a:solidFill>
            <a:srgbClr val="0F9B58"/>
          </a:solidFill>
          <a:ln w="12700">
            <a:solidFill>
              <a:srgbClr val="0F9B58"/>
            </a:solidFill>
            <a:prstDash val="solid"/>
          </a:ln>
        </p:spPr>
      </p:sp>
      <p:sp>
        <p:nvSpPr>
          <p:cNvPr id="1232908271" name="Text 16"/>
          <p:cNvSpPr/>
          <p:nvPr/>
        </p:nvSpPr>
        <p:spPr bwMode="auto">
          <a:xfrm>
            <a:off x="45720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C8D6E5"/>
                </a:solidFill>
              </a:rPr>
              <a:t>Алешин И.К.  •  ПИН-31</a:t>
            </a:r>
            <a:endParaRPr lang="en-US" sz="1200"/>
          </a:p>
        </p:txBody>
      </p:sp>
      <p:sp>
        <p:nvSpPr>
          <p:cNvPr id="2071596362" name="Shape 17"/>
          <p:cNvSpPr/>
          <p:nvPr/>
        </p:nvSpPr>
        <p:spPr bwMode="auto">
          <a:xfrm>
            <a:off x="5943600" y="3200400"/>
            <a:ext cx="2926080" cy="16459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9B58"/>
            </a:solidFill>
            <a:prstDash val="solid"/>
          </a:ln>
        </p:spPr>
      </p:sp>
      <p:sp>
        <p:nvSpPr>
          <p:cNvPr id="1311174824" name="Text 18"/>
          <p:cNvSpPr/>
          <p:nvPr/>
        </p:nvSpPr>
        <p:spPr bwMode="auto">
          <a:xfrm>
            <a:off x="6035039" y="32918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0F9B58"/>
                </a:solidFill>
              </a:rPr>
              <a:t>SCORE</a:t>
            </a:r>
            <a:br>
              <a:rPr lang="en-US" sz="1100" b="1">
                <a:solidFill>
                  <a:srgbClr val="0F9B58"/>
                </a:solidFill>
              </a:rPr>
            </a:br>
            <a:r>
              <a:rPr lang="en-US" sz="2200" b="1">
                <a:solidFill>
                  <a:srgbClr val="FFFFFF"/>
                </a:solidFill>
              </a:rPr>
              <a:t>500 000 000</a:t>
            </a:r>
            <a:br>
              <a:rPr lang="en-US" sz="2200" b="1">
                <a:solidFill>
                  <a:srgbClr val="FFFFFF"/>
                </a:solidFill>
              </a:rPr>
            </a:br>
            <a:r>
              <a:rPr lang="en-US" sz="1000">
                <a:solidFill>
                  <a:srgbClr val="C8D6E5"/>
                </a:solidFill>
              </a:rPr>
              <a:t>копий продано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305207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650838113" name="Text 1"/>
          <p:cNvSpPr/>
          <p:nvPr/>
        </p:nvSpPr>
        <p:spPr bwMode="auto"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Кто придумал Тетрис?</a:t>
            </a:r>
            <a:endParaRPr lang="en-US" sz="2800"/>
          </a:p>
        </p:txBody>
      </p:sp>
      <p:sp>
        <p:nvSpPr>
          <p:cNvPr id="639700785" name="Shape 4"/>
          <p:cNvSpPr/>
          <p:nvPr/>
        </p:nvSpPr>
        <p:spPr bwMode="auto">
          <a:xfrm>
            <a:off x="3840480" y="1188720"/>
            <a:ext cx="493776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17357800" name="Shape 5"/>
          <p:cNvSpPr/>
          <p:nvPr/>
        </p:nvSpPr>
        <p:spPr bwMode="auto">
          <a:xfrm>
            <a:off x="3840480" y="1188720"/>
            <a:ext cx="73152" cy="6400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42074443" name="Text 6"/>
          <p:cNvSpPr/>
          <p:nvPr/>
        </p:nvSpPr>
        <p:spPr bwMode="auto">
          <a:xfrm>
            <a:off x="402336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9CA3AF"/>
                </a:solidFill>
              </a:rPr>
              <a:t>Имя</a:t>
            </a:r>
            <a:endParaRPr lang="en-US" sz="1000"/>
          </a:p>
        </p:txBody>
      </p:sp>
      <p:sp>
        <p:nvSpPr>
          <p:cNvPr id="1267162298" name="Text 7"/>
          <p:cNvSpPr/>
          <p:nvPr/>
        </p:nvSpPr>
        <p:spPr bwMode="auto">
          <a:xfrm>
            <a:off x="4023360" y="14813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1A1A2E"/>
                </a:solidFill>
              </a:rPr>
              <a:t>Алексей Пажитнов</a:t>
            </a:r>
            <a:endParaRPr lang="en-US" sz="1300"/>
          </a:p>
        </p:txBody>
      </p:sp>
      <p:sp>
        <p:nvSpPr>
          <p:cNvPr id="1236008625" name="Shape 8"/>
          <p:cNvSpPr/>
          <p:nvPr/>
        </p:nvSpPr>
        <p:spPr bwMode="auto">
          <a:xfrm>
            <a:off x="3840480" y="1965960"/>
            <a:ext cx="493776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08371656" name="Shape 9"/>
          <p:cNvSpPr/>
          <p:nvPr/>
        </p:nvSpPr>
        <p:spPr bwMode="auto">
          <a:xfrm>
            <a:off x="3840480" y="1965960"/>
            <a:ext cx="73152" cy="6400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045927803" name="Text 10"/>
          <p:cNvSpPr/>
          <p:nvPr/>
        </p:nvSpPr>
        <p:spPr bwMode="auto">
          <a:xfrm>
            <a:off x="402336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9CA3AF"/>
                </a:solidFill>
              </a:rPr>
              <a:t>Должность</a:t>
            </a:r>
            <a:endParaRPr lang="en-US" sz="1000"/>
          </a:p>
        </p:txBody>
      </p:sp>
      <p:sp>
        <p:nvSpPr>
          <p:cNvPr id="234486913" name="Text 11"/>
          <p:cNvSpPr/>
          <p:nvPr/>
        </p:nvSpPr>
        <p:spPr bwMode="auto">
          <a:xfrm>
            <a:off x="4023360" y="22585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1A1A2E"/>
                </a:solidFill>
              </a:rPr>
              <a:t>Программист в Вычислительном центре АН СССР</a:t>
            </a:r>
            <a:endParaRPr lang="en-US" sz="1300"/>
          </a:p>
        </p:txBody>
      </p:sp>
      <p:sp>
        <p:nvSpPr>
          <p:cNvPr id="530543106" name="Shape 12"/>
          <p:cNvSpPr/>
          <p:nvPr/>
        </p:nvSpPr>
        <p:spPr bwMode="auto">
          <a:xfrm>
            <a:off x="3840480" y="2743200"/>
            <a:ext cx="493776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94874956" name="Shape 13"/>
          <p:cNvSpPr/>
          <p:nvPr/>
        </p:nvSpPr>
        <p:spPr bwMode="auto">
          <a:xfrm>
            <a:off x="3840480" y="2743200"/>
            <a:ext cx="73152" cy="6400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56303769" name="Text 14"/>
          <p:cNvSpPr/>
          <p:nvPr/>
        </p:nvSpPr>
        <p:spPr bwMode="auto">
          <a:xfrm>
            <a:off x="402336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9CA3AF"/>
                </a:solidFill>
              </a:rPr>
              <a:t>Хобби</a:t>
            </a:r>
            <a:endParaRPr lang="en-US" sz="1000"/>
          </a:p>
        </p:txBody>
      </p:sp>
      <p:sp>
        <p:nvSpPr>
          <p:cNvPr id="1668415366" name="Text 15"/>
          <p:cNvSpPr/>
          <p:nvPr/>
        </p:nvSpPr>
        <p:spPr bwMode="auto">
          <a:xfrm>
            <a:off x="4023360" y="30358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1A1A2E"/>
                </a:solidFill>
              </a:rPr>
              <a:t>Головоломки и математические игры</a:t>
            </a:r>
            <a:endParaRPr lang="en-US" sz="1300"/>
          </a:p>
        </p:txBody>
      </p:sp>
      <p:sp>
        <p:nvSpPr>
          <p:cNvPr id="1281460054" name="Shape 16"/>
          <p:cNvSpPr/>
          <p:nvPr/>
        </p:nvSpPr>
        <p:spPr bwMode="auto">
          <a:xfrm>
            <a:off x="3840480" y="3520440"/>
            <a:ext cx="493776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1633376" name="Shape 17"/>
          <p:cNvSpPr/>
          <p:nvPr/>
        </p:nvSpPr>
        <p:spPr bwMode="auto">
          <a:xfrm>
            <a:off x="3840480" y="3520440"/>
            <a:ext cx="73152" cy="6400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69078915" name="Text 18"/>
          <p:cNvSpPr/>
          <p:nvPr/>
        </p:nvSpPr>
        <p:spPr bwMode="auto">
          <a:xfrm>
            <a:off x="4023360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9CA3AF"/>
                </a:solidFill>
              </a:rPr>
              <a:t>1984 год</a:t>
            </a:r>
            <a:endParaRPr lang="en-US" sz="1000"/>
          </a:p>
        </p:txBody>
      </p:sp>
      <p:sp>
        <p:nvSpPr>
          <p:cNvPr id="2098515810" name="Text 19"/>
          <p:cNvSpPr/>
          <p:nvPr/>
        </p:nvSpPr>
        <p:spPr bwMode="auto">
          <a:xfrm>
            <a:off x="4023360" y="3813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1A1A2E"/>
                </a:solidFill>
              </a:rPr>
              <a:t>Разрабатывает игры в свободное от работы время</a:t>
            </a:r>
            <a:endParaRPr lang="en-US" sz="1300"/>
          </a:p>
        </p:txBody>
      </p:sp>
      <p:sp>
        <p:nvSpPr>
          <p:cNvPr id="1770033297" name="Text 20"/>
          <p:cNvSpPr/>
          <p:nvPr/>
        </p:nvSpPr>
        <p:spPr bwMode="auto">
          <a:xfrm>
            <a:off x="3840480" y="42976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400" b="1" i="1">
                <a:solidFill>
                  <a:srgbClr val="E94560"/>
                </a:solidFill>
              </a:rPr>
              <a:t>Обычный советский учёный. Никакого бизнес-плана.</a:t>
            </a:r>
            <a:endParaRPr lang="en-US" sz="1400"/>
          </a:p>
          <a:p>
            <a:pPr marL="0" indent="0" algn="l">
              <a:buNone/>
              <a:defRPr/>
            </a:pPr>
            <a:r>
              <a:rPr lang="en-US" sz="1400" b="1" i="1">
                <a:solidFill>
                  <a:srgbClr val="E94560"/>
                </a:solidFill>
              </a:rPr>
              <a:t>Просто любил головоломки.</a:t>
            </a:r>
            <a:endParaRPr lang="en-US" sz="1400"/>
          </a:p>
        </p:txBody>
      </p:sp>
      <p:pic>
        <p:nvPicPr>
          <p:cNvPr id="53306081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00194" y="1151795"/>
            <a:ext cx="3531529" cy="3365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16213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0835235" name="Text 0"/>
          <p:cNvSpPr/>
          <p:nvPr/>
        </p:nvSpPr>
        <p:spPr bwMode="auto">
          <a:xfrm>
            <a:off x="457200" y="18288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Как рождался Тетрис</a:t>
            </a:r>
            <a:endParaRPr lang="en-US" sz="3000"/>
          </a:p>
        </p:txBody>
      </p:sp>
      <p:sp>
        <p:nvSpPr>
          <p:cNvPr id="1757948807" name="Text 2"/>
          <p:cNvSpPr/>
          <p:nvPr/>
        </p:nvSpPr>
        <p:spPr bwMode="auto">
          <a:xfrm>
            <a:off x="6217920" y="1005840"/>
            <a:ext cx="2743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i="1">
                <a:solidFill>
                  <a:srgbClr val="C8D6E5"/>
                </a:solidFill>
              </a:rPr>
              <a:t>📷 ФОТО: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 i="1">
                <a:solidFill>
                  <a:srgbClr val="C8D6E5"/>
                </a:solidFill>
              </a:rPr>
              <a:t>Компьютер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 i="1">
                <a:solidFill>
                  <a:srgbClr val="C8D6E5"/>
                </a:solidFill>
              </a:rPr>
              <a:t>Электроника-60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 i="1">
                <a:solidFill>
                  <a:srgbClr val="C8D6E5"/>
                </a:solidFill>
              </a:rPr>
              <a:t>(или ранняя версия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 i="1">
                <a:solidFill>
                  <a:srgbClr val="C8D6E5"/>
                </a:solidFill>
              </a:rPr>
              <a:t>игры на экране)</a:t>
            </a:r>
            <a:endParaRPr lang="en-US" sz="1100"/>
          </a:p>
        </p:txBody>
      </p:sp>
      <p:sp>
        <p:nvSpPr>
          <p:cNvPr id="1445755849" name="Shape 3"/>
          <p:cNvSpPr/>
          <p:nvPr/>
        </p:nvSpPr>
        <p:spPr bwMode="auto">
          <a:xfrm>
            <a:off x="365760" y="1097280"/>
            <a:ext cx="502920" cy="502920"/>
          </a:xfrm>
          <a:prstGeom prst="rect">
            <a:avLst/>
          </a:prstGeom>
          <a:solidFill>
            <a:srgbClr val="0F9B58"/>
          </a:solidFill>
          <a:ln w="12700">
            <a:solidFill>
              <a:srgbClr val="0F9B58"/>
            </a:solidFill>
            <a:prstDash val="solid"/>
          </a:ln>
        </p:spPr>
      </p:sp>
      <p:sp>
        <p:nvSpPr>
          <p:cNvPr id="1121147493" name="Text 4"/>
          <p:cNvSpPr/>
          <p:nvPr/>
        </p:nvSpPr>
        <p:spPr bwMode="auto">
          <a:xfrm>
            <a:off x="36576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01</a:t>
            </a:r>
            <a:endParaRPr lang="en-US" sz="1400"/>
          </a:p>
        </p:txBody>
      </p:sp>
      <p:sp>
        <p:nvSpPr>
          <p:cNvPr id="393275091" name="Text 5"/>
          <p:cNvSpPr/>
          <p:nvPr/>
        </p:nvSpPr>
        <p:spPr bwMode="auto">
          <a:xfrm>
            <a:off x="1005840" y="11155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Вдохновение</a:t>
            </a:r>
            <a:endParaRPr lang="en-US" sz="1400"/>
          </a:p>
        </p:txBody>
      </p:sp>
      <p:sp>
        <p:nvSpPr>
          <p:cNvPr id="1128902317" name="Text 6"/>
          <p:cNvSpPr/>
          <p:nvPr/>
        </p:nvSpPr>
        <p:spPr bwMode="auto">
          <a:xfrm>
            <a:off x="100584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8D6E5"/>
                </a:solidFill>
              </a:rPr>
              <a:t>Пажитнов обожал пентамино — головоломку с фигурками из 5 квадратиков. Решил сделать из неё игру.</a:t>
            </a:r>
            <a:endParaRPr lang="en-US" sz="1100"/>
          </a:p>
        </p:txBody>
      </p:sp>
      <p:sp>
        <p:nvSpPr>
          <p:cNvPr id="1544583922" name="Shape 7"/>
          <p:cNvSpPr/>
          <p:nvPr/>
        </p:nvSpPr>
        <p:spPr bwMode="auto">
          <a:xfrm>
            <a:off x="365760" y="1965960"/>
            <a:ext cx="502920" cy="502920"/>
          </a:xfrm>
          <a:prstGeom prst="rect">
            <a:avLst/>
          </a:prstGeom>
          <a:solidFill>
            <a:srgbClr val="0F9B58"/>
          </a:solidFill>
          <a:ln w="12700">
            <a:solidFill>
              <a:srgbClr val="0F9B58"/>
            </a:solidFill>
            <a:prstDash val="solid"/>
          </a:ln>
        </p:spPr>
      </p:sp>
      <p:sp>
        <p:nvSpPr>
          <p:cNvPr id="2024935546" name="Text 8"/>
          <p:cNvSpPr/>
          <p:nvPr/>
        </p:nvSpPr>
        <p:spPr bwMode="auto">
          <a:xfrm>
            <a:off x="3657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02</a:t>
            </a:r>
            <a:endParaRPr lang="en-US" sz="1400"/>
          </a:p>
        </p:txBody>
      </p:sp>
      <p:sp>
        <p:nvSpPr>
          <p:cNvPr id="1464218860" name="Text 9"/>
          <p:cNvSpPr/>
          <p:nvPr/>
        </p:nvSpPr>
        <p:spPr bwMode="auto">
          <a:xfrm>
            <a:off x="1005840" y="19842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Проблема</a:t>
            </a:r>
            <a:endParaRPr lang="en-US" sz="1400"/>
          </a:p>
        </p:txBody>
      </p:sp>
      <p:sp>
        <p:nvSpPr>
          <p:cNvPr id="1560024058" name="Text 10"/>
          <p:cNvSpPr/>
          <p:nvPr/>
        </p:nvSpPr>
        <p:spPr bwMode="auto">
          <a:xfrm>
            <a:off x="100584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8D6E5"/>
                </a:solidFill>
              </a:rPr>
              <a:t>Советский компьютер «Электроника-60» был слишком слабым. Пришлось упростить до 4 квадратиков — так появились тетрамино.</a:t>
            </a:r>
            <a:endParaRPr lang="en-US" sz="1100"/>
          </a:p>
        </p:txBody>
      </p:sp>
      <p:sp>
        <p:nvSpPr>
          <p:cNvPr id="1469455620" name="Shape 11"/>
          <p:cNvSpPr/>
          <p:nvPr/>
        </p:nvSpPr>
        <p:spPr bwMode="auto">
          <a:xfrm>
            <a:off x="365760" y="2834640"/>
            <a:ext cx="502920" cy="502920"/>
          </a:xfrm>
          <a:prstGeom prst="rect">
            <a:avLst/>
          </a:prstGeom>
          <a:solidFill>
            <a:srgbClr val="0F9B58"/>
          </a:solidFill>
          <a:ln w="12700">
            <a:solidFill>
              <a:srgbClr val="0F9B58"/>
            </a:solidFill>
            <a:prstDash val="solid"/>
          </a:ln>
        </p:spPr>
      </p:sp>
      <p:sp>
        <p:nvSpPr>
          <p:cNvPr id="1170934613" name="Text 12"/>
          <p:cNvSpPr/>
          <p:nvPr/>
        </p:nvSpPr>
        <p:spPr bwMode="auto">
          <a:xfrm>
            <a:off x="36576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03</a:t>
            </a:r>
            <a:endParaRPr lang="en-US" sz="1400"/>
          </a:p>
        </p:txBody>
      </p:sp>
      <p:sp>
        <p:nvSpPr>
          <p:cNvPr id="1988699203" name="Text 13"/>
          <p:cNvSpPr/>
          <p:nvPr/>
        </p:nvSpPr>
        <p:spPr bwMode="auto">
          <a:xfrm>
            <a:off x="1005840" y="28529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Момент</a:t>
            </a:r>
            <a:endParaRPr lang="en-US" sz="1400"/>
          </a:p>
        </p:txBody>
      </p:sp>
      <p:sp>
        <p:nvSpPr>
          <p:cNvPr id="469021905" name="Text 14"/>
          <p:cNvSpPr/>
          <p:nvPr/>
        </p:nvSpPr>
        <p:spPr bwMode="auto">
          <a:xfrm>
            <a:off x="100584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8D6E5"/>
                </a:solidFill>
              </a:rPr>
              <a:t>Первая рабочая версия готова за несколько недель. Пажитнов показал коллегам — никто не мог оторваться.</a:t>
            </a:r>
            <a:endParaRPr lang="en-US" sz="1100"/>
          </a:p>
        </p:txBody>
      </p:sp>
      <p:sp>
        <p:nvSpPr>
          <p:cNvPr id="2026914111" name="Shape 15"/>
          <p:cNvSpPr/>
          <p:nvPr/>
        </p:nvSpPr>
        <p:spPr bwMode="auto">
          <a:xfrm>
            <a:off x="365760" y="3703320"/>
            <a:ext cx="502920" cy="502920"/>
          </a:xfrm>
          <a:prstGeom prst="rect">
            <a:avLst/>
          </a:prstGeom>
          <a:solidFill>
            <a:srgbClr val="0F9B58"/>
          </a:solidFill>
          <a:ln w="12700">
            <a:solidFill>
              <a:srgbClr val="0F9B58"/>
            </a:solidFill>
            <a:prstDash val="solid"/>
          </a:ln>
        </p:spPr>
      </p:sp>
      <p:sp>
        <p:nvSpPr>
          <p:cNvPr id="1851927711" name="Text 16"/>
          <p:cNvSpPr/>
          <p:nvPr/>
        </p:nvSpPr>
        <p:spPr bwMode="auto">
          <a:xfrm>
            <a:off x="36576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04</a:t>
            </a:r>
            <a:endParaRPr lang="en-US" sz="1400"/>
          </a:p>
        </p:txBody>
      </p:sp>
      <p:sp>
        <p:nvSpPr>
          <p:cNvPr id="1766195287" name="Text 17"/>
          <p:cNvSpPr/>
          <p:nvPr/>
        </p:nvSpPr>
        <p:spPr bwMode="auto">
          <a:xfrm>
            <a:off x="1005840" y="3721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Распространение</a:t>
            </a:r>
            <a:endParaRPr lang="en-US" sz="1400"/>
          </a:p>
        </p:txBody>
      </p:sp>
      <p:sp>
        <p:nvSpPr>
          <p:cNvPr id="1738628470" name="Text 18"/>
          <p:cNvSpPr/>
          <p:nvPr/>
        </p:nvSpPr>
        <p:spPr bwMode="auto">
          <a:xfrm>
            <a:off x="1005840" y="3977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8D6E5"/>
                </a:solidFill>
              </a:rPr>
              <a:t>Игра пошла по рукам на дискетах. Без интернета, без рекламы — просто из рук в руки по всему Союзу.</a:t>
            </a:r>
            <a:endParaRPr lang="en-US" sz="1100"/>
          </a:p>
        </p:txBody>
      </p:sp>
      <p:pic>
        <p:nvPicPr>
          <p:cNvPr id="1795752106" name=""/>
          <p:cNvPicPr>
            <a:picLocks noChangeAspect="1"/>
          </p:cNvPicPr>
          <p:nvPr/>
        </p:nvPicPr>
        <p:blipFill rotWithShape="1">
          <a:blip r:embed="rId3"/>
          <a:srcRect l="20425" t="0" r="4200" b="0"/>
        </p:blipFill>
        <p:spPr bwMode="auto">
          <a:xfrm flipH="0" flipV="0">
            <a:off x="6134673" y="1252728"/>
            <a:ext cx="3007512" cy="29518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545349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815135673" name="Text 1"/>
          <p:cNvSpPr/>
          <p:nvPr/>
        </p:nvSpPr>
        <p:spPr bwMode="auto"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Как Тетрис завоевал мир</a:t>
            </a:r>
            <a:endParaRPr lang="en-US" sz="2800"/>
          </a:p>
        </p:txBody>
      </p:sp>
      <p:sp>
        <p:nvSpPr>
          <p:cNvPr id="1078541947" name="Shape 2"/>
          <p:cNvSpPr/>
          <p:nvPr/>
        </p:nvSpPr>
        <p:spPr bwMode="auto">
          <a:xfrm>
            <a:off x="274320" y="1097280"/>
            <a:ext cx="205740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378865757" name="Shape 3"/>
          <p:cNvSpPr/>
          <p:nvPr/>
        </p:nvSpPr>
        <p:spPr bwMode="auto">
          <a:xfrm>
            <a:off x="274320" y="1097280"/>
            <a:ext cx="205740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94984335" name="Text 4"/>
          <p:cNvSpPr/>
          <p:nvPr/>
        </p:nvSpPr>
        <p:spPr bwMode="auto">
          <a:xfrm>
            <a:off x="274320" y="123444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E94560"/>
                </a:solidFill>
                <a:latin typeface="Impact"/>
                <a:ea typeface="Impact"/>
                <a:cs typeface="Impact"/>
              </a:rPr>
              <a:t>1986</a:t>
            </a:r>
            <a:endParaRPr lang="en-US" sz="3200"/>
          </a:p>
        </p:txBody>
      </p:sp>
      <p:sp>
        <p:nvSpPr>
          <p:cNvPr id="1556591356" name="Text 5"/>
          <p:cNvSpPr/>
          <p:nvPr/>
        </p:nvSpPr>
        <p:spPr bwMode="auto">
          <a:xfrm>
            <a:off x="274320" y="21488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A1A2E"/>
                </a:solidFill>
              </a:rPr>
              <a:t>Год</a:t>
            </a:r>
            <a:endParaRPr lang="en-US" sz="1200"/>
          </a:p>
        </p:txBody>
      </p:sp>
      <p:sp>
        <p:nvSpPr>
          <p:cNvPr id="1279872138" name="Shape 6"/>
          <p:cNvSpPr/>
          <p:nvPr/>
        </p:nvSpPr>
        <p:spPr bwMode="auto">
          <a:xfrm>
            <a:off x="822960" y="2578608"/>
            <a:ext cx="96012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94929724" name="Text 7"/>
          <p:cNvSpPr/>
          <p:nvPr/>
        </p:nvSpPr>
        <p:spPr bwMode="auto">
          <a:xfrm>
            <a:off x="365760" y="2697480"/>
            <a:ext cx="1874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64748B"/>
                </a:solidFill>
              </a:rPr>
              <a:t>Венгерский программист Вадим Герасимов делает версию для IBM PC. Игра уходит на Запад.</a:t>
            </a:r>
            <a:endParaRPr lang="en-US" sz="1100"/>
          </a:p>
        </p:txBody>
      </p:sp>
      <p:sp>
        <p:nvSpPr>
          <p:cNvPr id="699384602" name="Shape 8"/>
          <p:cNvSpPr/>
          <p:nvPr/>
        </p:nvSpPr>
        <p:spPr bwMode="auto">
          <a:xfrm>
            <a:off x="2514600" y="1097280"/>
            <a:ext cx="205740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999640573" name="Shape 9"/>
          <p:cNvSpPr/>
          <p:nvPr/>
        </p:nvSpPr>
        <p:spPr bwMode="auto">
          <a:xfrm>
            <a:off x="2514600" y="1097280"/>
            <a:ext cx="2057400" cy="54864"/>
          </a:xfrm>
          <a:prstGeom prst="rect">
            <a:avLst/>
          </a:prstGeom>
          <a:solidFill>
            <a:srgbClr val="0F9B58"/>
          </a:solidFill>
          <a:ln w="12700">
            <a:solidFill>
              <a:srgbClr val="0F9B58"/>
            </a:solidFill>
            <a:prstDash val="solid"/>
          </a:ln>
        </p:spPr>
      </p:sp>
      <p:sp>
        <p:nvSpPr>
          <p:cNvPr id="2065328788" name="Text 10"/>
          <p:cNvSpPr/>
          <p:nvPr/>
        </p:nvSpPr>
        <p:spPr bwMode="auto">
          <a:xfrm>
            <a:off x="2514600" y="123444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0F9B58"/>
                </a:solidFill>
                <a:latin typeface="Impact"/>
                <a:ea typeface="Impact"/>
                <a:cs typeface="Impact"/>
              </a:rPr>
              <a:t>1989</a:t>
            </a:r>
            <a:endParaRPr lang="en-US" sz="3200"/>
          </a:p>
        </p:txBody>
      </p:sp>
      <p:sp>
        <p:nvSpPr>
          <p:cNvPr id="648870404" name="Text 11"/>
          <p:cNvSpPr/>
          <p:nvPr/>
        </p:nvSpPr>
        <p:spPr bwMode="auto">
          <a:xfrm>
            <a:off x="2514600" y="21488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A1A2E"/>
                </a:solidFill>
              </a:rPr>
              <a:t>Game Boy</a:t>
            </a:r>
            <a:endParaRPr lang="en-US" sz="1200"/>
          </a:p>
        </p:txBody>
      </p:sp>
      <p:sp>
        <p:nvSpPr>
          <p:cNvPr id="1753629167" name="Shape 12"/>
          <p:cNvSpPr/>
          <p:nvPr/>
        </p:nvSpPr>
        <p:spPr bwMode="auto">
          <a:xfrm>
            <a:off x="3063240" y="2578608"/>
            <a:ext cx="96012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39326634" name="Text 13"/>
          <p:cNvSpPr/>
          <p:nvPr/>
        </p:nvSpPr>
        <p:spPr bwMode="auto">
          <a:xfrm>
            <a:off x="2606040" y="2697480"/>
            <a:ext cx="1874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64748B"/>
                </a:solidFill>
              </a:rPr>
              <a:t>Nintendo выпускает Game Boy с Тетрисом в комплекте. Продано 35 миллионов приставок.</a:t>
            </a:r>
            <a:endParaRPr lang="en-US" sz="1100"/>
          </a:p>
        </p:txBody>
      </p:sp>
      <p:sp>
        <p:nvSpPr>
          <p:cNvPr id="602272309" name="Shape 14"/>
          <p:cNvSpPr/>
          <p:nvPr/>
        </p:nvSpPr>
        <p:spPr bwMode="auto">
          <a:xfrm>
            <a:off x="4754880" y="1097280"/>
            <a:ext cx="205740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968977344" name="Shape 15"/>
          <p:cNvSpPr/>
          <p:nvPr/>
        </p:nvSpPr>
        <p:spPr bwMode="auto">
          <a:xfrm>
            <a:off x="4754880" y="1097280"/>
            <a:ext cx="20574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8185376" name="Text 16"/>
          <p:cNvSpPr/>
          <p:nvPr/>
        </p:nvSpPr>
        <p:spPr bwMode="auto">
          <a:xfrm>
            <a:off x="4754880" y="123444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F5A623"/>
                </a:solidFill>
                <a:latin typeface="Impact"/>
                <a:ea typeface="Impact"/>
                <a:cs typeface="Impact"/>
              </a:rPr>
              <a:t>500M+</a:t>
            </a:r>
            <a:endParaRPr lang="en-US" sz="3200"/>
          </a:p>
        </p:txBody>
      </p:sp>
      <p:sp>
        <p:nvSpPr>
          <p:cNvPr id="1236462689" name="Text 17"/>
          <p:cNvSpPr/>
          <p:nvPr/>
        </p:nvSpPr>
        <p:spPr bwMode="auto">
          <a:xfrm>
            <a:off x="4754880" y="21488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A1A2E"/>
                </a:solidFill>
              </a:rPr>
              <a:t>Копий</a:t>
            </a:r>
            <a:endParaRPr lang="en-US" sz="1200"/>
          </a:p>
        </p:txBody>
      </p:sp>
      <p:sp>
        <p:nvSpPr>
          <p:cNvPr id="175366373" name="Shape 18"/>
          <p:cNvSpPr/>
          <p:nvPr/>
        </p:nvSpPr>
        <p:spPr bwMode="auto">
          <a:xfrm>
            <a:off x="5303520" y="2578608"/>
            <a:ext cx="96012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4499859" name="Text 19"/>
          <p:cNvSpPr/>
          <p:nvPr/>
        </p:nvSpPr>
        <p:spPr bwMode="auto">
          <a:xfrm>
            <a:off x="4846320" y="2697480"/>
            <a:ext cx="1874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64748B"/>
                </a:solidFill>
              </a:rPr>
              <a:t>К 2010 году — самая продаваемая игра в истории человечества.</a:t>
            </a:r>
            <a:endParaRPr lang="en-US" sz="1100"/>
          </a:p>
        </p:txBody>
      </p:sp>
      <p:sp>
        <p:nvSpPr>
          <p:cNvPr id="1708656858" name="Shape 20"/>
          <p:cNvSpPr/>
          <p:nvPr/>
        </p:nvSpPr>
        <p:spPr bwMode="auto">
          <a:xfrm>
            <a:off x="6995160" y="1097280"/>
            <a:ext cx="205740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162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739686143" name="Shape 21"/>
          <p:cNvSpPr/>
          <p:nvPr/>
        </p:nvSpPr>
        <p:spPr bwMode="auto">
          <a:xfrm>
            <a:off x="6995160" y="1097280"/>
            <a:ext cx="20574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62139680" name="Text 22"/>
          <p:cNvSpPr/>
          <p:nvPr/>
        </p:nvSpPr>
        <p:spPr bwMode="auto">
          <a:xfrm>
            <a:off x="6995160" y="123444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3B82F6"/>
                </a:solidFill>
                <a:latin typeface="Impact"/>
                <a:ea typeface="Impact"/>
                <a:cs typeface="Impact"/>
              </a:rPr>
              <a:t>2 млрд</a:t>
            </a:r>
            <a:endParaRPr lang="en-US" sz="3200"/>
          </a:p>
        </p:txBody>
      </p:sp>
      <p:sp>
        <p:nvSpPr>
          <p:cNvPr id="1320609318" name="Text 23"/>
          <p:cNvSpPr/>
          <p:nvPr/>
        </p:nvSpPr>
        <p:spPr bwMode="auto">
          <a:xfrm>
            <a:off x="6995160" y="21488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A1A2E"/>
                </a:solidFill>
              </a:rPr>
              <a:t>Телефонов</a:t>
            </a:r>
            <a:endParaRPr lang="en-US" sz="1200"/>
          </a:p>
        </p:txBody>
      </p:sp>
      <p:sp>
        <p:nvSpPr>
          <p:cNvPr id="153194915" name="Shape 24"/>
          <p:cNvSpPr/>
          <p:nvPr/>
        </p:nvSpPr>
        <p:spPr bwMode="auto">
          <a:xfrm>
            <a:off x="7543800" y="2578608"/>
            <a:ext cx="96012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15451670" name="Text 25"/>
          <p:cNvSpPr/>
          <p:nvPr/>
        </p:nvSpPr>
        <p:spPr bwMode="auto">
          <a:xfrm>
            <a:off x="7086600" y="2697480"/>
            <a:ext cx="1874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64748B"/>
                </a:solidFill>
              </a:rPr>
              <a:t>К 2005 году Тетрис установлен на каждом втором мобильном телефоне в мире.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583991" name="Shape 0"/>
          <p:cNvSpPr/>
          <p:nvPr/>
        </p:nvSpPr>
        <p:spPr bwMode="auto">
          <a:xfrm>
            <a:off x="0" y="0"/>
            <a:ext cx="4389120" cy="51435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686549254" name="Text 1"/>
          <p:cNvSpPr/>
          <p:nvPr/>
        </p:nvSpPr>
        <p:spPr bwMode="auto">
          <a:xfrm>
            <a:off x="274320" y="45720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ru-RU" sz="3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Авторские права</a:t>
            </a:r>
            <a:endParaRPr lang="en-US" sz="3600"/>
          </a:p>
        </p:txBody>
      </p:sp>
      <p:sp>
        <p:nvSpPr>
          <p:cNvPr id="118403887" name="Text 2"/>
          <p:cNvSpPr/>
          <p:nvPr/>
        </p:nvSpPr>
        <p:spPr bwMode="auto">
          <a:xfrm>
            <a:off x="274320" y="23774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FFCCCC"/>
                </a:solidFill>
              </a:rPr>
              <a:t>В СССР всё, созданное на государственном компьютере, — собственность государства. Без исключений.</a:t>
            </a:r>
            <a:endParaRPr lang="en-US" sz="1300"/>
          </a:p>
        </p:txBody>
      </p:sp>
      <p:sp>
        <p:nvSpPr>
          <p:cNvPr id="51047323" name="Text 3"/>
          <p:cNvSpPr/>
          <p:nvPr/>
        </p:nvSpPr>
        <p:spPr bwMode="auto">
          <a:xfrm>
            <a:off x="274320" y="37490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i="1">
                <a:solidFill>
                  <a:srgbClr val="FFFFFF"/>
                </a:solidFill>
              </a:rPr>
              <a:t>Пажитнов:</a:t>
            </a:r>
            <a:endParaRPr lang="en-US" sz="1300"/>
          </a:p>
          <a:p>
            <a:pPr marL="0" indent="0">
              <a:buNone/>
              <a:defRPr/>
            </a:pPr>
            <a:r>
              <a:rPr lang="en-US" sz="1300" i="1">
                <a:solidFill>
                  <a:srgbClr val="FFFFFF"/>
                </a:solidFill>
              </a:rPr>
              <a:t>«Я был рад, что игра нравится людям»</a:t>
            </a:r>
            <a:endParaRPr lang="en-US" sz="1300"/>
          </a:p>
        </p:txBody>
      </p:sp>
      <p:sp>
        <p:nvSpPr>
          <p:cNvPr id="825206314" name="Shape 4"/>
          <p:cNvSpPr/>
          <p:nvPr/>
        </p:nvSpPr>
        <p:spPr bwMode="auto">
          <a:xfrm>
            <a:off x="4572000" y="365760"/>
            <a:ext cx="429768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855343056" name="Text 5"/>
          <p:cNvSpPr/>
          <p:nvPr/>
        </p:nvSpPr>
        <p:spPr bwMode="auto">
          <a:xfrm>
            <a:off x="4663440" y="594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endParaRPr lang="en-US" sz="1800"/>
          </a:p>
        </p:txBody>
      </p:sp>
      <p:sp>
        <p:nvSpPr>
          <p:cNvPr id="343909874" name="Text 6"/>
          <p:cNvSpPr/>
          <p:nvPr/>
        </p:nvSpPr>
        <p:spPr bwMode="auto">
          <a:xfrm>
            <a:off x="5212080" y="5029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C8D6E5"/>
                </a:solidFill>
              </a:rPr>
              <a:t>Права на игру отошли государственной организации ЭЛОРГ</a:t>
            </a:r>
            <a:endParaRPr lang="en-US" sz="1300"/>
          </a:p>
        </p:txBody>
      </p:sp>
      <p:sp>
        <p:nvSpPr>
          <p:cNvPr id="1946481925" name="Shape 7"/>
          <p:cNvSpPr/>
          <p:nvPr/>
        </p:nvSpPr>
        <p:spPr bwMode="auto">
          <a:xfrm>
            <a:off x="4572000" y="1463040"/>
            <a:ext cx="429768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23860837" name="Text 8"/>
          <p:cNvSpPr/>
          <p:nvPr/>
        </p:nvSpPr>
        <p:spPr bwMode="auto">
          <a:xfrm>
            <a:off x="46634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endParaRPr lang="en-US" sz="1800"/>
          </a:p>
        </p:txBody>
      </p:sp>
      <p:sp>
        <p:nvSpPr>
          <p:cNvPr id="1205005475" name="Text 9"/>
          <p:cNvSpPr/>
          <p:nvPr/>
        </p:nvSpPr>
        <p:spPr bwMode="auto">
          <a:xfrm>
            <a:off x="5212080" y="16002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C8D6E5"/>
                </a:solidFill>
              </a:rPr>
              <a:t>Миллионные сделки с Nintendo и другими компаниями — мимо него</a:t>
            </a:r>
            <a:endParaRPr lang="en-US" sz="1300"/>
          </a:p>
        </p:txBody>
      </p:sp>
      <p:sp>
        <p:nvSpPr>
          <p:cNvPr id="1916608241" name="Shape 10"/>
          <p:cNvSpPr/>
          <p:nvPr/>
        </p:nvSpPr>
        <p:spPr bwMode="auto">
          <a:xfrm>
            <a:off x="4572000" y="2560320"/>
            <a:ext cx="429768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716451440" name="Text 11"/>
          <p:cNvSpPr/>
          <p:nvPr/>
        </p:nvSpPr>
        <p:spPr bwMode="auto">
          <a:xfrm>
            <a:off x="466344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endParaRPr lang="en-US" sz="1800"/>
          </a:p>
        </p:txBody>
      </p:sp>
      <p:sp>
        <p:nvSpPr>
          <p:cNvPr id="1274446358" name="Text 12"/>
          <p:cNvSpPr/>
          <p:nvPr/>
        </p:nvSpPr>
        <p:spPr bwMode="auto">
          <a:xfrm>
            <a:off x="5212080" y="2697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C8D6E5"/>
                </a:solidFill>
              </a:rPr>
              <a:t>12 лет Пажитнов не получал ни копейки роялти</a:t>
            </a:r>
            <a:endParaRPr lang="en-US" sz="1300"/>
          </a:p>
        </p:txBody>
      </p:sp>
      <p:sp>
        <p:nvSpPr>
          <p:cNvPr id="323626724" name="Shape 13"/>
          <p:cNvSpPr/>
          <p:nvPr/>
        </p:nvSpPr>
        <p:spPr bwMode="auto">
          <a:xfrm>
            <a:off x="4572000" y="3657600"/>
            <a:ext cx="429768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909800659" name="Text 14"/>
          <p:cNvSpPr/>
          <p:nvPr/>
        </p:nvSpPr>
        <p:spPr bwMode="auto">
          <a:xfrm>
            <a:off x="466344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endParaRPr lang="en-US" sz="1800"/>
          </a:p>
        </p:txBody>
      </p:sp>
      <p:sp>
        <p:nvSpPr>
          <p:cNvPr id="77268566" name="Text 15"/>
          <p:cNvSpPr/>
          <p:nvPr/>
        </p:nvSpPr>
        <p:spPr bwMode="auto">
          <a:xfrm>
            <a:off x="5212080" y="37947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C8D6E5"/>
                </a:solidFill>
              </a:rPr>
              <a:t>Долгое время он вообще не мог рассказывать о своей роли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337716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0F9B58"/>
          </a:solidFill>
          <a:ln w="12700">
            <a:solidFill>
              <a:srgbClr val="0F9B58"/>
            </a:solidFill>
            <a:prstDash val="solid"/>
          </a:ln>
        </p:spPr>
      </p:sp>
      <p:sp>
        <p:nvSpPr>
          <p:cNvPr id="731734945" name="Text 1"/>
          <p:cNvSpPr/>
          <p:nvPr/>
        </p:nvSpPr>
        <p:spPr bwMode="auto"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Хэппи-энд: 12 лет спустя</a:t>
            </a:r>
            <a:endParaRPr lang="en-US" sz="2800"/>
          </a:p>
        </p:txBody>
      </p:sp>
      <p:sp>
        <p:nvSpPr>
          <p:cNvPr id="1549454385" name="Shape 2"/>
          <p:cNvSpPr/>
          <p:nvPr/>
        </p:nvSpPr>
        <p:spPr bwMode="auto">
          <a:xfrm>
            <a:off x="960120" y="1691640"/>
            <a:ext cx="45720" cy="7772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78167115" name="Shape 3"/>
          <p:cNvSpPr/>
          <p:nvPr/>
        </p:nvSpPr>
        <p:spPr bwMode="auto">
          <a:xfrm>
            <a:off x="731520" y="1280160"/>
            <a:ext cx="457200" cy="457200"/>
          </a:xfrm>
          <a:prstGeom prst="ellipse">
            <a:avLst/>
          </a:prstGeom>
          <a:solidFill>
            <a:srgbClr val="0F9B58"/>
          </a:solidFill>
          <a:ln w="12700">
            <a:solidFill>
              <a:srgbClr val="0F9B58"/>
            </a:solidFill>
            <a:prstDash val="solid"/>
          </a:ln>
        </p:spPr>
      </p:sp>
      <p:sp>
        <p:nvSpPr>
          <p:cNvPr id="752377432" name="Text 4"/>
          <p:cNvSpPr/>
          <p:nvPr/>
        </p:nvSpPr>
        <p:spPr bwMode="auto">
          <a:xfrm>
            <a:off x="1371600" y="1234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A1A2E"/>
                </a:solidFill>
              </a:rPr>
              <a:t>1991</a:t>
            </a:r>
            <a:endParaRPr lang="en-US" sz="1400"/>
          </a:p>
        </p:txBody>
      </p:sp>
      <p:sp>
        <p:nvSpPr>
          <p:cNvPr id="104236999" name="Text 5"/>
          <p:cNvSpPr/>
          <p:nvPr/>
        </p:nvSpPr>
        <p:spPr bwMode="auto">
          <a:xfrm>
            <a:off x="1371600" y="15361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475569"/>
                </a:solidFill>
              </a:rPr>
              <a:t>СССР распадается. Пажитнов уезжает в США.</a:t>
            </a:r>
            <a:endParaRPr lang="en-US" sz="1300"/>
          </a:p>
        </p:txBody>
      </p:sp>
      <p:sp>
        <p:nvSpPr>
          <p:cNvPr id="155818638" name="Shape 6"/>
          <p:cNvSpPr/>
          <p:nvPr/>
        </p:nvSpPr>
        <p:spPr bwMode="auto">
          <a:xfrm>
            <a:off x="960120" y="2697480"/>
            <a:ext cx="45720" cy="7772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37213734" name="Shape 7"/>
          <p:cNvSpPr/>
          <p:nvPr/>
        </p:nvSpPr>
        <p:spPr bwMode="auto">
          <a:xfrm>
            <a:off x="731520" y="2286000"/>
            <a:ext cx="457200" cy="457200"/>
          </a:xfrm>
          <a:prstGeom prst="ellipse">
            <a:avLst/>
          </a:prstGeom>
          <a:solidFill>
            <a:srgbClr val="0F9B58"/>
          </a:solidFill>
          <a:ln w="12700">
            <a:solidFill>
              <a:srgbClr val="0F9B58"/>
            </a:solidFill>
            <a:prstDash val="solid"/>
          </a:ln>
        </p:spPr>
      </p:sp>
      <p:sp>
        <p:nvSpPr>
          <p:cNvPr id="1449803752" name="Text 8"/>
          <p:cNvSpPr/>
          <p:nvPr/>
        </p:nvSpPr>
        <p:spPr bwMode="auto">
          <a:xfrm>
            <a:off x="1371600" y="22402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A1A2E"/>
                </a:solidFill>
              </a:rPr>
              <a:t>1996</a:t>
            </a:r>
            <a:endParaRPr lang="en-US" sz="1400"/>
          </a:p>
        </p:txBody>
      </p:sp>
      <p:sp>
        <p:nvSpPr>
          <p:cNvPr id="1189668273" name="Text 9"/>
          <p:cNvSpPr/>
          <p:nvPr/>
        </p:nvSpPr>
        <p:spPr bwMode="auto">
          <a:xfrm>
            <a:off x="1371600" y="2542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475569"/>
                </a:solidFill>
              </a:rPr>
              <a:t>Через 12 лет после создания игры права наконец возвращаются к автору. Он основывает компанию The Tetris Company.</a:t>
            </a:r>
            <a:endParaRPr lang="en-US" sz="1300"/>
          </a:p>
        </p:txBody>
      </p:sp>
      <p:sp>
        <p:nvSpPr>
          <p:cNvPr id="111825296" name="Shape 10"/>
          <p:cNvSpPr/>
          <p:nvPr/>
        </p:nvSpPr>
        <p:spPr bwMode="auto">
          <a:xfrm>
            <a:off x="960120" y="3703320"/>
            <a:ext cx="45720" cy="7772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80410729" name="Shape 11"/>
          <p:cNvSpPr/>
          <p:nvPr/>
        </p:nvSpPr>
        <p:spPr bwMode="auto">
          <a:xfrm>
            <a:off x="731520" y="3291840"/>
            <a:ext cx="457200" cy="457200"/>
          </a:xfrm>
          <a:prstGeom prst="ellipse">
            <a:avLst/>
          </a:prstGeom>
          <a:solidFill>
            <a:srgbClr val="0F9B58"/>
          </a:solidFill>
          <a:ln w="12700">
            <a:solidFill>
              <a:srgbClr val="0F9B58"/>
            </a:solidFill>
            <a:prstDash val="solid"/>
          </a:ln>
        </p:spPr>
      </p:sp>
      <p:sp>
        <p:nvSpPr>
          <p:cNvPr id="2064344222" name="Text 12"/>
          <p:cNvSpPr/>
          <p:nvPr/>
        </p:nvSpPr>
        <p:spPr bwMode="auto">
          <a:xfrm>
            <a:off x="1371600" y="32461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A1A2E"/>
                </a:solidFill>
              </a:rPr>
              <a:t>2006</a:t>
            </a:r>
            <a:endParaRPr lang="en-US" sz="1400"/>
          </a:p>
        </p:txBody>
      </p:sp>
      <p:sp>
        <p:nvSpPr>
          <p:cNvPr id="1240373610" name="Text 13"/>
          <p:cNvSpPr/>
          <p:nvPr/>
        </p:nvSpPr>
        <p:spPr bwMode="auto">
          <a:xfrm>
            <a:off x="1371600" y="35478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475569"/>
                </a:solidFill>
              </a:rPr>
              <a:t>Пажитнов официально получает долю от продаж. </a:t>
            </a:r>
            <a:endParaRPr lang="en-US" sz="1300"/>
          </a:p>
        </p:txBody>
      </p:sp>
      <p:sp>
        <p:nvSpPr>
          <p:cNvPr id="1917980278" name="Shape 14"/>
          <p:cNvSpPr/>
          <p:nvPr/>
        </p:nvSpPr>
        <p:spPr bwMode="auto">
          <a:xfrm>
            <a:off x="731520" y="4297680"/>
            <a:ext cx="457200" cy="457200"/>
          </a:xfrm>
          <a:prstGeom prst="ellipse">
            <a:avLst/>
          </a:prstGeom>
          <a:solidFill>
            <a:srgbClr val="0F9B58"/>
          </a:solidFill>
          <a:ln w="12700">
            <a:solidFill>
              <a:srgbClr val="0F9B58"/>
            </a:solidFill>
            <a:prstDash val="solid"/>
          </a:ln>
        </p:spPr>
      </p:sp>
      <p:sp>
        <p:nvSpPr>
          <p:cNvPr id="1875325121" name="Text 15"/>
          <p:cNvSpPr/>
          <p:nvPr/>
        </p:nvSpPr>
        <p:spPr bwMode="auto">
          <a:xfrm>
            <a:off x="1371600" y="4251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A1A2E"/>
                </a:solidFill>
              </a:rPr>
              <a:t>Сегодня</a:t>
            </a:r>
            <a:endParaRPr lang="en-US" sz="1400"/>
          </a:p>
        </p:txBody>
      </p:sp>
      <p:sp>
        <p:nvSpPr>
          <p:cNvPr id="625688935" name="Text 16"/>
          <p:cNvSpPr/>
          <p:nvPr/>
        </p:nvSpPr>
        <p:spPr bwMode="auto">
          <a:xfrm>
            <a:off x="1371600" y="455371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475569"/>
                </a:solidFill>
              </a:rPr>
              <a:t>Тетрис до сих пор продаётся — и Пажитнов до сих пор получает деньги с каждой копии.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476562" name="Shape 0"/>
          <p:cNvSpPr/>
          <p:nvPr/>
        </p:nvSpPr>
        <p:spPr bwMode="auto">
          <a:xfrm>
            <a:off x="7772400" y="137160"/>
            <a:ext cx="320040" cy="320040"/>
          </a:xfrm>
          <a:prstGeom prst="rect">
            <a:avLst/>
          </a:prstGeom>
          <a:solidFill>
            <a:srgbClr val="E94560"/>
          </a:solidFill>
          <a:ln w="25400">
            <a:solidFill>
              <a:srgbClr val="1A1A2E"/>
            </a:solidFill>
            <a:prstDash val="solid"/>
          </a:ln>
        </p:spPr>
      </p:sp>
      <p:sp>
        <p:nvSpPr>
          <p:cNvPr id="1654094471" name="Shape 1"/>
          <p:cNvSpPr/>
          <p:nvPr/>
        </p:nvSpPr>
        <p:spPr bwMode="auto">
          <a:xfrm>
            <a:off x="8138160" y="137160"/>
            <a:ext cx="320040" cy="320040"/>
          </a:xfrm>
          <a:prstGeom prst="rect">
            <a:avLst/>
          </a:prstGeom>
          <a:solidFill>
            <a:srgbClr val="0F9B58"/>
          </a:solidFill>
          <a:ln w="25400">
            <a:solidFill>
              <a:srgbClr val="1A1A2E"/>
            </a:solidFill>
            <a:prstDash val="solid"/>
          </a:ln>
        </p:spPr>
      </p:sp>
      <p:sp>
        <p:nvSpPr>
          <p:cNvPr id="106051452" name="Shape 2"/>
          <p:cNvSpPr/>
          <p:nvPr/>
        </p:nvSpPr>
        <p:spPr bwMode="auto">
          <a:xfrm>
            <a:off x="8503920" y="137160"/>
            <a:ext cx="320040" cy="320040"/>
          </a:xfrm>
          <a:prstGeom prst="rect">
            <a:avLst/>
          </a:prstGeom>
          <a:solidFill>
            <a:srgbClr val="F5A623"/>
          </a:solidFill>
          <a:ln w="25400">
            <a:solidFill>
              <a:srgbClr val="1A1A2E"/>
            </a:solidFill>
            <a:prstDash val="solid"/>
          </a:ln>
        </p:spPr>
      </p:sp>
      <p:sp>
        <p:nvSpPr>
          <p:cNvPr id="1135880476" name="Shape 3"/>
          <p:cNvSpPr/>
          <p:nvPr/>
        </p:nvSpPr>
        <p:spPr bwMode="auto">
          <a:xfrm>
            <a:off x="7772400" y="502920"/>
            <a:ext cx="320040" cy="320040"/>
          </a:xfrm>
          <a:prstGeom prst="rect">
            <a:avLst/>
          </a:prstGeom>
          <a:solidFill>
            <a:srgbClr val="F5A623"/>
          </a:solidFill>
          <a:ln w="25400">
            <a:solidFill>
              <a:srgbClr val="1A1A2E"/>
            </a:solidFill>
            <a:prstDash val="solid"/>
          </a:ln>
        </p:spPr>
      </p:sp>
      <p:sp>
        <p:nvSpPr>
          <p:cNvPr id="534003425" name="Shape 4"/>
          <p:cNvSpPr/>
          <p:nvPr/>
        </p:nvSpPr>
        <p:spPr bwMode="auto">
          <a:xfrm>
            <a:off x="8138160" y="502920"/>
            <a:ext cx="320040" cy="320040"/>
          </a:xfrm>
          <a:prstGeom prst="rect">
            <a:avLst/>
          </a:prstGeom>
          <a:solidFill>
            <a:srgbClr val="E94560"/>
          </a:solidFill>
          <a:ln w="25400">
            <a:solidFill>
              <a:srgbClr val="1A1A2E"/>
            </a:solidFill>
            <a:prstDash val="solid"/>
          </a:ln>
        </p:spPr>
      </p:sp>
      <p:sp>
        <p:nvSpPr>
          <p:cNvPr id="1199329862" name="Shape 5"/>
          <p:cNvSpPr/>
          <p:nvPr/>
        </p:nvSpPr>
        <p:spPr bwMode="auto">
          <a:xfrm>
            <a:off x="7772400" y="868680"/>
            <a:ext cx="320040" cy="320040"/>
          </a:xfrm>
          <a:prstGeom prst="rect">
            <a:avLst/>
          </a:prstGeom>
          <a:solidFill>
            <a:srgbClr val="0F9B58"/>
          </a:solidFill>
          <a:ln w="25400">
            <a:solidFill>
              <a:srgbClr val="1A1A2E"/>
            </a:solidFill>
            <a:prstDash val="solid"/>
          </a:ln>
        </p:spPr>
      </p:sp>
      <p:sp>
        <p:nvSpPr>
          <p:cNvPr id="615912852" name="Shape 6"/>
          <p:cNvSpPr/>
          <p:nvPr/>
        </p:nvSpPr>
        <p:spPr bwMode="auto">
          <a:xfrm>
            <a:off x="8138160" y="868680"/>
            <a:ext cx="320040" cy="320040"/>
          </a:xfrm>
          <a:prstGeom prst="rect">
            <a:avLst/>
          </a:prstGeom>
          <a:solidFill>
            <a:srgbClr val="0F9B58"/>
          </a:solidFill>
          <a:ln w="25400">
            <a:solidFill>
              <a:srgbClr val="1A1A2E"/>
            </a:solidFill>
            <a:prstDash val="solid"/>
          </a:ln>
        </p:spPr>
      </p:sp>
      <p:sp>
        <p:nvSpPr>
          <p:cNvPr id="1697979594" name="Shape 7"/>
          <p:cNvSpPr/>
          <p:nvPr/>
        </p:nvSpPr>
        <p:spPr bwMode="auto">
          <a:xfrm>
            <a:off x="8503920" y="868680"/>
            <a:ext cx="320040" cy="320040"/>
          </a:xfrm>
          <a:prstGeom prst="rect">
            <a:avLst/>
          </a:prstGeom>
          <a:solidFill>
            <a:srgbClr val="E94560"/>
          </a:solidFill>
          <a:ln w="25400">
            <a:solidFill>
              <a:srgbClr val="1A1A2E"/>
            </a:solidFill>
            <a:prstDash val="solid"/>
          </a:ln>
        </p:spPr>
      </p:sp>
      <p:sp>
        <p:nvSpPr>
          <p:cNvPr id="1973363830" name="Text 8"/>
          <p:cNvSpPr/>
          <p:nvPr/>
        </p:nvSpPr>
        <p:spPr bwMode="auto">
          <a:xfrm>
            <a:off x="457200" y="274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Что нам говорит</a:t>
            </a:r>
            <a:endParaRPr lang="en-US" sz="3800"/>
          </a:p>
          <a:p>
            <a:pPr marL="0" indent="0">
              <a:buNone/>
              <a:defRPr/>
            </a:pPr>
            <a:r>
              <a:rPr lang="en-US" sz="3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эта история?</a:t>
            </a:r>
            <a:endParaRPr lang="en-US" sz="3800"/>
          </a:p>
        </p:txBody>
      </p:sp>
      <p:sp>
        <p:nvSpPr>
          <p:cNvPr id="68901330" name="Shape 9"/>
          <p:cNvSpPr/>
          <p:nvPr/>
        </p:nvSpPr>
        <p:spPr bwMode="auto">
          <a:xfrm flipH="0" flipV="0">
            <a:off x="365759" y="1920240"/>
            <a:ext cx="3784821" cy="2242054"/>
          </a:xfrm>
          <a:prstGeom prst="rect">
            <a:avLst/>
          </a:prstGeom>
          <a:solidFill>
            <a:srgbClr val="16213E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807347578" name="Text 10"/>
          <p:cNvSpPr/>
          <p:nvPr/>
        </p:nvSpPr>
        <p:spPr bwMode="auto">
          <a:xfrm>
            <a:off x="502920" y="2084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 sz="1800"/>
          </a:p>
        </p:txBody>
      </p:sp>
      <p:sp>
        <p:nvSpPr>
          <p:cNvPr id="838454025" name="Text 11"/>
          <p:cNvSpPr/>
          <p:nvPr/>
        </p:nvSpPr>
        <p:spPr bwMode="auto">
          <a:xfrm flipH="0" flipV="0">
            <a:off x="653232" y="1809488"/>
            <a:ext cx="3314678" cy="23528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800">
                <a:solidFill>
                  <a:srgbClr val="FFFFFF"/>
                </a:solidFill>
              </a:rPr>
              <a:t>Величайшая игра всех времён родилась не в корпорации — а в голове одного скучающего программиста.</a:t>
            </a:r>
            <a:endParaRPr sz="1800"/>
          </a:p>
        </p:txBody>
      </p:sp>
      <p:pic>
        <p:nvPicPr>
          <p:cNvPr id="99701969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493712" y="1526090"/>
            <a:ext cx="4382401" cy="29196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ONLYOFFICE/9.1.0.173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2</cp:revision>
  <dcterms:created xsi:type="dcterms:W3CDTF">2026-05-15T08:48:33Z</dcterms:created>
  <dcterms:modified xsi:type="dcterms:W3CDTF">2026-05-15T09:25:27Z</dcterms:modified>
</cp:coreProperties>
</file>