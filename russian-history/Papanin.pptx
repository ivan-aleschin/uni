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826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03839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4657778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129010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349707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795569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355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164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4410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40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810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775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302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74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8656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471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99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2584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250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015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972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130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13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1119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892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603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238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A234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924003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37934436" name="Shape 1"/>
          <p:cNvSpPr/>
          <p:nvPr/>
        </p:nvSpPr>
        <p:spPr bwMode="auto">
          <a:xfrm>
            <a:off x="7772400" y="274320"/>
            <a:ext cx="1645920" cy="1645920"/>
          </a:xfrm>
          <a:prstGeom prst="ellipse">
            <a:avLst/>
          </a:prstGeom>
          <a:solidFill>
            <a:srgbClr val="2E86C1">
              <a:alpha val="18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1810349886" name="Shape 2"/>
          <p:cNvSpPr/>
          <p:nvPr/>
        </p:nvSpPr>
        <p:spPr bwMode="auto">
          <a:xfrm>
            <a:off x="8412480" y="1645920"/>
            <a:ext cx="914400" cy="914400"/>
          </a:xfrm>
          <a:prstGeom prst="ellipse">
            <a:avLst/>
          </a:prstGeom>
          <a:solidFill>
            <a:srgbClr val="2E86C1">
              <a:alpha val="18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132133340" name="Shape 3"/>
          <p:cNvSpPr/>
          <p:nvPr/>
        </p:nvSpPr>
        <p:spPr bwMode="auto">
          <a:xfrm>
            <a:off x="7132320" y="1371600"/>
            <a:ext cx="548640" cy="548640"/>
          </a:xfrm>
          <a:prstGeom prst="ellipse">
            <a:avLst/>
          </a:prstGeom>
          <a:solidFill>
            <a:srgbClr val="2E86C1">
              <a:alpha val="18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sp>
        <p:nvSpPr>
          <p:cNvPr id="611635499" name="Shape 4"/>
          <p:cNvSpPr/>
          <p:nvPr/>
        </p:nvSpPr>
        <p:spPr bwMode="auto">
          <a:xfrm>
            <a:off x="457200" y="457200"/>
            <a:ext cx="14630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47102947" name="Text 5"/>
          <p:cNvSpPr/>
          <p:nvPr/>
        </p:nvSpPr>
        <p:spPr bwMode="auto">
          <a:xfrm>
            <a:off x="457200" y="457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</a:rPr>
              <a:t>1937 – 1938</a:t>
            </a:r>
            <a:endParaRPr lang="en-US" sz="1100"/>
          </a:p>
        </p:txBody>
      </p:sp>
      <p:sp>
        <p:nvSpPr>
          <p:cNvPr id="2051384676" name="Text 6"/>
          <p:cNvSpPr/>
          <p:nvPr/>
        </p:nvSpPr>
        <p:spPr bwMode="auto">
          <a:xfrm>
            <a:off x="45720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Девять месяцев</a:t>
            </a:r>
            <a:endParaRPr lang="en-US" sz="4600"/>
          </a:p>
          <a:p>
            <a:pPr marL="0" indent="0" algn="l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на льдине</a:t>
            </a:r>
            <a:endParaRPr lang="en-US" sz="4600"/>
          </a:p>
        </p:txBody>
      </p:sp>
      <p:sp>
        <p:nvSpPr>
          <p:cNvPr id="1602158257" name="Text 7"/>
          <p:cNvSpPr/>
          <p:nvPr/>
        </p:nvSpPr>
        <p:spPr bwMode="auto">
          <a:xfrm>
            <a:off x="45720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ED6F1"/>
                </a:solidFill>
              </a:rPr>
              <a:t>Дрейфующая станция «Северный полюс-1»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>
                <a:solidFill>
                  <a:srgbClr val="AED6F1"/>
                </a:solidFill>
              </a:rPr>
              <a:t>и её легендарный экипаж</a:t>
            </a:r>
            <a:endParaRPr lang="en-US" sz="1600"/>
          </a:p>
        </p:txBody>
      </p:sp>
      <p:sp>
        <p:nvSpPr>
          <p:cNvPr id="925425865" name="Shape 8"/>
          <p:cNvSpPr/>
          <p:nvPr/>
        </p:nvSpPr>
        <p:spPr bwMode="auto">
          <a:xfrm>
            <a:off x="457200" y="3886200"/>
            <a:ext cx="27432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29378307" name="Text 9"/>
          <p:cNvSpPr/>
          <p:nvPr/>
        </p:nvSpPr>
        <p:spPr bwMode="auto">
          <a:xfrm>
            <a:off x="4572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AED6F1"/>
                </a:solidFill>
              </a:rPr>
              <a:t>Алешин И.К.  •  ПИН-31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497832" name="Shape 0"/>
          <p:cNvSpPr/>
          <p:nvPr/>
        </p:nvSpPr>
        <p:spPr bwMode="auto">
          <a:xfrm>
            <a:off x="0" y="0"/>
            <a:ext cx="384048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32527058" name="Text 2"/>
          <p:cNvSpPr/>
          <p:nvPr/>
        </p:nvSpPr>
        <p:spPr bwMode="auto">
          <a:xfrm>
            <a:off x="228600" y="3657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📷 ФОТО: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Карта Арктики / Северный полюс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на глобусе</a:t>
            </a:r>
            <a:endParaRPr lang="en-US" sz="1200"/>
          </a:p>
        </p:txBody>
      </p:sp>
      <p:sp>
        <p:nvSpPr>
          <p:cNvPr id="399070681" name="Text 3"/>
          <p:cNvSpPr/>
          <p:nvPr/>
        </p:nvSpPr>
        <p:spPr bwMode="auto">
          <a:xfrm>
            <a:off x="417847" y="34747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Зачем СССР</a:t>
            </a:r>
            <a:endParaRPr lang="en-US" sz="2200"/>
          </a:p>
          <a:p>
            <a:pPr marL="0" indent="0" algn="l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нужен полюс?</a:t>
            </a:r>
            <a:endParaRPr lang="en-US" sz="2200"/>
          </a:p>
        </p:txBody>
      </p:sp>
      <p:sp>
        <p:nvSpPr>
          <p:cNvPr id="1548719537" name="Shape 4"/>
          <p:cNvSpPr/>
          <p:nvPr/>
        </p:nvSpPr>
        <p:spPr bwMode="auto">
          <a:xfrm>
            <a:off x="4114800" y="457200"/>
            <a:ext cx="47548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194207294" name="Text 5"/>
          <p:cNvSpPr/>
          <p:nvPr/>
        </p:nvSpPr>
        <p:spPr bwMode="auto">
          <a:xfrm>
            <a:off x="4297680" y="548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A2342"/>
                </a:solidFill>
              </a:rPr>
              <a:t>Торговые пути</a:t>
            </a:r>
            <a:endParaRPr lang="en-US" sz="1400"/>
          </a:p>
        </p:txBody>
      </p:sp>
      <p:sp>
        <p:nvSpPr>
          <p:cNvPr id="1965542185" name="Text 6"/>
          <p:cNvSpPr/>
          <p:nvPr/>
        </p:nvSpPr>
        <p:spPr bwMode="auto">
          <a:xfrm>
            <a:off x="4297680" y="914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A5276"/>
                </a:solidFill>
              </a:rPr>
              <a:t>Арктика — кратчайший маршрут между Европой и Америкой. Кто контролирует полюс — контролирует небо.</a:t>
            </a:r>
            <a:endParaRPr lang="en-US" sz="1200"/>
          </a:p>
        </p:txBody>
      </p:sp>
      <p:sp>
        <p:nvSpPr>
          <p:cNvPr id="1206610672" name="Shape 7"/>
          <p:cNvSpPr/>
          <p:nvPr/>
        </p:nvSpPr>
        <p:spPr bwMode="auto">
          <a:xfrm>
            <a:off x="4114800" y="1874520"/>
            <a:ext cx="47548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799498718" name="Text 8"/>
          <p:cNvSpPr/>
          <p:nvPr/>
        </p:nvSpPr>
        <p:spPr bwMode="auto">
          <a:xfrm>
            <a:off x="429768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A2342"/>
                </a:solidFill>
              </a:rPr>
              <a:t> Наука</a:t>
            </a:r>
            <a:endParaRPr lang="en-US" sz="1400"/>
          </a:p>
        </p:txBody>
      </p:sp>
      <p:sp>
        <p:nvSpPr>
          <p:cNvPr id="26590176" name="Text 9"/>
          <p:cNvSpPr/>
          <p:nvPr/>
        </p:nvSpPr>
        <p:spPr bwMode="auto">
          <a:xfrm>
            <a:off x="4297680" y="2331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A5276"/>
                </a:solidFill>
              </a:rPr>
              <a:t>Никто не знал, что происходит в Арктике зимой. Погода, течения, магнитные поля — всё была тайной.</a:t>
            </a:r>
            <a:endParaRPr lang="en-US" sz="1200"/>
          </a:p>
        </p:txBody>
      </p:sp>
      <p:sp>
        <p:nvSpPr>
          <p:cNvPr id="1700897634" name="Shape 10"/>
          <p:cNvSpPr/>
          <p:nvPr/>
        </p:nvSpPr>
        <p:spPr bwMode="auto">
          <a:xfrm>
            <a:off x="4114800" y="3291840"/>
            <a:ext cx="47548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867036389" name="Text 11"/>
          <p:cNvSpPr/>
          <p:nvPr/>
        </p:nvSpPr>
        <p:spPr bwMode="auto">
          <a:xfrm>
            <a:off x="429768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A2342"/>
                </a:solidFill>
              </a:rPr>
              <a:t>Престиж</a:t>
            </a:r>
            <a:endParaRPr lang="en-US" sz="1400"/>
          </a:p>
        </p:txBody>
      </p:sp>
      <p:sp>
        <p:nvSpPr>
          <p:cNvPr id="1190699373" name="Text 12"/>
          <p:cNvSpPr/>
          <p:nvPr/>
        </p:nvSpPr>
        <p:spPr bwMode="auto">
          <a:xfrm>
            <a:off x="4297680" y="3749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1A5276"/>
                </a:solidFill>
              </a:rPr>
              <a:t>Гонка со всем миром. СССР хотел первым водрузить флаг там, куда ещё не ступала нога человека надолго.</a:t>
            </a:r>
            <a:endParaRPr lang="en-US" sz="1200"/>
          </a:p>
        </p:txBody>
      </p:sp>
      <p:pic>
        <p:nvPicPr>
          <p:cNvPr id="958072605" name=""/>
          <p:cNvPicPr>
            <a:picLocks noChangeAspect="1"/>
          </p:cNvPicPr>
          <p:nvPr/>
        </p:nvPicPr>
        <p:blipFill rotWithShape="1">
          <a:blip r:embed="rId3"/>
          <a:srcRect l="7" t="0" r="7" b="20386"/>
        </p:blipFill>
        <p:spPr bwMode="auto">
          <a:xfrm flipH="0" flipV="0">
            <a:off x="358139" y="263098"/>
            <a:ext cx="3124199" cy="3222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D6E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53161" name="Shape 0"/>
          <p:cNvSpPr/>
          <p:nvPr/>
        </p:nvSpPr>
        <p:spPr bwMode="auto"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89849799" name="Text 1"/>
          <p:cNvSpPr/>
          <p:nvPr/>
        </p:nvSpPr>
        <p:spPr bwMode="auto"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Четыре человека против Арктики</a:t>
            </a:r>
            <a:endParaRPr lang="en-US" sz="2800"/>
          </a:p>
        </p:txBody>
      </p:sp>
      <p:sp>
        <p:nvSpPr>
          <p:cNvPr id="1527034327" name="Shape 2"/>
          <p:cNvSpPr/>
          <p:nvPr/>
        </p:nvSpPr>
        <p:spPr bwMode="auto">
          <a:xfrm>
            <a:off x="27432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73550288" name="Shape 3"/>
          <p:cNvSpPr/>
          <p:nvPr/>
        </p:nvSpPr>
        <p:spPr bwMode="auto">
          <a:xfrm>
            <a:off x="365760" y="1188720"/>
            <a:ext cx="1874520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33218708" name="Text 4"/>
          <p:cNvSpPr/>
          <p:nvPr/>
        </p:nvSpPr>
        <p:spPr bwMode="auto">
          <a:xfrm>
            <a:off x="365760" y="11887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📷 ФОТО: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Иван Папанин</a:t>
            </a:r>
            <a:endParaRPr lang="en-US" sz="1000"/>
          </a:p>
        </p:txBody>
      </p:sp>
      <p:sp>
        <p:nvSpPr>
          <p:cNvPr id="738590536" name="Text 5"/>
          <p:cNvSpPr/>
          <p:nvPr/>
        </p:nvSpPr>
        <p:spPr bwMode="auto">
          <a:xfrm>
            <a:off x="36576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A2342"/>
                </a:solidFill>
              </a:rPr>
              <a:t>Иван Папанин</a:t>
            </a:r>
            <a:endParaRPr lang="en-US" sz="1200"/>
          </a:p>
        </p:txBody>
      </p:sp>
      <p:sp>
        <p:nvSpPr>
          <p:cNvPr id="1460850613" name="Shape 6"/>
          <p:cNvSpPr/>
          <p:nvPr/>
        </p:nvSpPr>
        <p:spPr bwMode="auto">
          <a:xfrm>
            <a:off x="411480" y="3200400"/>
            <a:ext cx="178308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00545596" name="Text 7"/>
          <p:cNvSpPr/>
          <p:nvPr/>
        </p:nvSpPr>
        <p:spPr bwMode="auto">
          <a:xfrm>
            <a:off x="411480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</a:rPr>
              <a:t>Начальник станции</a:t>
            </a:r>
            <a:endParaRPr lang="en-US" sz="900"/>
          </a:p>
        </p:txBody>
      </p:sp>
      <p:sp>
        <p:nvSpPr>
          <p:cNvPr id="2097450592" name="Text 8"/>
          <p:cNvSpPr/>
          <p:nvPr/>
        </p:nvSpPr>
        <p:spPr bwMode="auto">
          <a:xfrm>
            <a:off x="384048" y="3520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1A5276"/>
                </a:solidFill>
              </a:rPr>
              <a:t>Крепкий и упрямый — говорили, что он может уговорить льдину плыть туда, куда надо.</a:t>
            </a:r>
            <a:endParaRPr lang="en-US" sz="1000"/>
          </a:p>
        </p:txBody>
      </p:sp>
      <p:sp>
        <p:nvSpPr>
          <p:cNvPr id="53535040" name="Shape 9"/>
          <p:cNvSpPr/>
          <p:nvPr/>
        </p:nvSpPr>
        <p:spPr bwMode="auto">
          <a:xfrm>
            <a:off x="251460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743293515" name="Shape 10"/>
          <p:cNvSpPr/>
          <p:nvPr/>
        </p:nvSpPr>
        <p:spPr bwMode="auto">
          <a:xfrm>
            <a:off x="2606040" y="1188720"/>
            <a:ext cx="1874520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24547220" name="Text 11"/>
          <p:cNvSpPr/>
          <p:nvPr/>
        </p:nvSpPr>
        <p:spPr bwMode="auto">
          <a:xfrm>
            <a:off x="2606040" y="11887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📷 ФОТО: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Эрнст Кренкель</a:t>
            </a:r>
            <a:endParaRPr lang="en-US" sz="1000"/>
          </a:p>
        </p:txBody>
      </p:sp>
      <p:sp>
        <p:nvSpPr>
          <p:cNvPr id="164580238" name="Text 12"/>
          <p:cNvSpPr/>
          <p:nvPr/>
        </p:nvSpPr>
        <p:spPr bwMode="auto">
          <a:xfrm>
            <a:off x="260604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A2342"/>
                </a:solidFill>
              </a:rPr>
              <a:t>Эрнст Кренкель</a:t>
            </a:r>
            <a:endParaRPr lang="en-US" sz="1200"/>
          </a:p>
        </p:txBody>
      </p:sp>
      <p:sp>
        <p:nvSpPr>
          <p:cNvPr id="1919243418" name="Shape 13"/>
          <p:cNvSpPr/>
          <p:nvPr/>
        </p:nvSpPr>
        <p:spPr bwMode="auto">
          <a:xfrm>
            <a:off x="2651760" y="3200400"/>
            <a:ext cx="178308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53304037" name="Text 14"/>
          <p:cNvSpPr/>
          <p:nvPr/>
        </p:nvSpPr>
        <p:spPr bwMode="auto">
          <a:xfrm>
            <a:off x="2651760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</a:rPr>
              <a:t>Радист</a:t>
            </a:r>
            <a:endParaRPr lang="en-US" sz="900"/>
          </a:p>
        </p:txBody>
      </p:sp>
      <p:sp>
        <p:nvSpPr>
          <p:cNvPr id="1532164780" name="Text 15"/>
          <p:cNvSpPr/>
          <p:nvPr/>
        </p:nvSpPr>
        <p:spPr bwMode="auto">
          <a:xfrm>
            <a:off x="2624328" y="3520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1A5276"/>
                </a:solidFill>
              </a:rPr>
              <a:t>Лучший полярный радист страны. Держал связь с Москвой даже в пургу.</a:t>
            </a:r>
            <a:endParaRPr lang="en-US" sz="1000"/>
          </a:p>
        </p:txBody>
      </p:sp>
      <p:sp>
        <p:nvSpPr>
          <p:cNvPr id="1812898658" name="Shape 16"/>
          <p:cNvSpPr/>
          <p:nvPr/>
        </p:nvSpPr>
        <p:spPr bwMode="auto">
          <a:xfrm>
            <a:off x="475488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68051321" name="Shape 17"/>
          <p:cNvSpPr/>
          <p:nvPr/>
        </p:nvSpPr>
        <p:spPr bwMode="auto">
          <a:xfrm>
            <a:off x="4846320" y="1188720"/>
            <a:ext cx="1874520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60024694" name="Text 18"/>
          <p:cNvSpPr/>
          <p:nvPr/>
        </p:nvSpPr>
        <p:spPr bwMode="auto">
          <a:xfrm>
            <a:off x="4846320" y="11887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📷 ФОТО: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Евгений Фёдоров</a:t>
            </a:r>
            <a:endParaRPr lang="en-US" sz="1000"/>
          </a:p>
        </p:txBody>
      </p:sp>
      <p:sp>
        <p:nvSpPr>
          <p:cNvPr id="1614718113" name="Text 19"/>
          <p:cNvSpPr/>
          <p:nvPr/>
        </p:nvSpPr>
        <p:spPr bwMode="auto">
          <a:xfrm>
            <a:off x="484632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A2342"/>
                </a:solidFill>
              </a:rPr>
              <a:t>Евгений Фёдоров</a:t>
            </a:r>
            <a:endParaRPr lang="en-US" sz="1200"/>
          </a:p>
        </p:txBody>
      </p:sp>
      <p:sp>
        <p:nvSpPr>
          <p:cNvPr id="429398990" name="Shape 20"/>
          <p:cNvSpPr/>
          <p:nvPr/>
        </p:nvSpPr>
        <p:spPr bwMode="auto">
          <a:xfrm>
            <a:off x="4892039" y="3200400"/>
            <a:ext cx="178308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19978460" name="Text 21"/>
          <p:cNvSpPr/>
          <p:nvPr/>
        </p:nvSpPr>
        <p:spPr bwMode="auto">
          <a:xfrm>
            <a:off x="4892039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</a:rPr>
              <a:t>Метеоролог / геофизик</a:t>
            </a:r>
            <a:endParaRPr lang="en-US" sz="900"/>
          </a:p>
        </p:txBody>
      </p:sp>
      <p:sp>
        <p:nvSpPr>
          <p:cNvPr id="1755022835" name="Text 22"/>
          <p:cNvSpPr/>
          <p:nvPr/>
        </p:nvSpPr>
        <p:spPr bwMode="auto">
          <a:xfrm>
            <a:off x="4864607" y="3520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1A5276"/>
                </a:solidFill>
              </a:rPr>
              <a:t>Самый молодой. Вёл научные наблюдения каждый день, не пропустил ни одного.</a:t>
            </a:r>
            <a:endParaRPr lang="en-US" sz="1000"/>
          </a:p>
        </p:txBody>
      </p:sp>
      <p:sp>
        <p:nvSpPr>
          <p:cNvPr id="16020220" name="Shape 23"/>
          <p:cNvSpPr/>
          <p:nvPr/>
        </p:nvSpPr>
        <p:spPr bwMode="auto">
          <a:xfrm>
            <a:off x="6995160" y="1097280"/>
            <a:ext cx="2057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162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824211740" name="Shape 24"/>
          <p:cNvSpPr/>
          <p:nvPr/>
        </p:nvSpPr>
        <p:spPr bwMode="auto">
          <a:xfrm>
            <a:off x="7086600" y="1188720"/>
            <a:ext cx="1874520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15095576" name="Text 25"/>
          <p:cNvSpPr/>
          <p:nvPr/>
        </p:nvSpPr>
        <p:spPr bwMode="auto">
          <a:xfrm>
            <a:off x="7086600" y="11887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📷 ФОТО: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FFFFFF"/>
                </a:solidFill>
              </a:rPr>
              <a:t>Пётр Ширшов</a:t>
            </a:r>
            <a:endParaRPr lang="en-US" sz="1000"/>
          </a:p>
        </p:txBody>
      </p:sp>
      <p:sp>
        <p:nvSpPr>
          <p:cNvPr id="444273562" name="Text 26"/>
          <p:cNvSpPr/>
          <p:nvPr/>
        </p:nvSpPr>
        <p:spPr bwMode="auto">
          <a:xfrm>
            <a:off x="7086600" y="2743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A2342"/>
                </a:solidFill>
              </a:rPr>
              <a:t>Пётр Ширшов</a:t>
            </a:r>
            <a:endParaRPr lang="en-US" sz="1200"/>
          </a:p>
        </p:txBody>
      </p:sp>
      <p:sp>
        <p:nvSpPr>
          <p:cNvPr id="163454347" name="Shape 27"/>
          <p:cNvSpPr/>
          <p:nvPr/>
        </p:nvSpPr>
        <p:spPr bwMode="auto">
          <a:xfrm>
            <a:off x="7132320" y="3200400"/>
            <a:ext cx="178308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35088227" name="Text 28"/>
          <p:cNvSpPr/>
          <p:nvPr/>
        </p:nvSpPr>
        <p:spPr bwMode="auto">
          <a:xfrm>
            <a:off x="7132320" y="32004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</a:rPr>
              <a:t>Гидробиолог</a:t>
            </a:r>
            <a:endParaRPr lang="en-US" sz="900"/>
          </a:p>
        </p:txBody>
      </p:sp>
      <p:sp>
        <p:nvSpPr>
          <p:cNvPr id="536761168" name="Text 29"/>
          <p:cNvSpPr/>
          <p:nvPr/>
        </p:nvSpPr>
        <p:spPr bwMode="auto">
          <a:xfrm>
            <a:off x="7104888" y="35204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1A5276"/>
                </a:solidFill>
              </a:rPr>
              <a:t>Изучал глубины океана прямо через прорубь. В мороз. Каждый день.</a:t>
            </a:r>
            <a:endParaRPr lang="en-US" sz="1000"/>
          </a:p>
        </p:txBody>
      </p:sp>
      <p:pic>
        <p:nvPicPr>
          <p:cNvPr id="4983649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4320" y="1051455"/>
            <a:ext cx="2057400" cy="1809035"/>
          </a:xfrm>
          <a:prstGeom prst="rect">
            <a:avLst/>
          </a:prstGeom>
        </p:spPr>
      </p:pic>
      <p:pic>
        <p:nvPicPr>
          <p:cNvPr id="12503529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14599" y="1108382"/>
            <a:ext cx="2061219" cy="1752108"/>
          </a:xfrm>
          <a:prstGeom prst="rect">
            <a:avLst/>
          </a:prstGeom>
        </p:spPr>
      </p:pic>
      <p:pic>
        <p:nvPicPr>
          <p:cNvPr id="24183553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754879" y="1108382"/>
            <a:ext cx="2057400" cy="1752108"/>
          </a:xfrm>
          <a:prstGeom prst="rect">
            <a:avLst/>
          </a:prstGeom>
        </p:spPr>
      </p:pic>
      <p:pic>
        <p:nvPicPr>
          <p:cNvPr id="130838657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995160" y="1062460"/>
            <a:ext cx="2074235" cy="1798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A234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983229" name="Text 0"/>
          <p:cNvSpPr/>
          <p:nvPr/>
        </p:nvSpPr>
        <p:spPr bwMode="auto">
          <a:xfrm>
            <a:off x="457200" y="1828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Жизнь на льдине</a:t>
            </a:r>
            <a:endParaRPr lang="en-US" sz="3000"/>
          </a:p>
        </p:txBody>
      </p:sp>
      <p:sp>
        <p:nvSpPr>
          <p:cNvPr id="1315559660" name="Text 1"/>
          <p:cNvSpPr/>
          <p:nvPr/>
        </p:nvSpPr>
        <p:spPr bwMode="auto">
          <a:xfrm>
            <a:off x="4572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AED6F1"/>
                </a:solidFill>
              </a:rPr>
              <a:t>274 дня в Арктике — как это выглядело?</a:t>
            </a:r>
            <a:endParaRPr lang="en-US" sz="1400"/>
          </a:p>
        </p:txBody>
      </p:sp>
      <p:sp>
        <p:nvSpPr>
          <p:cNvPr id="1260151642" name="Text 3"/>
          <p:cNvSpPr/>
          <p:nvPr/>
        </p:nvSpPr>
        <p:spPr bwMode="auto">
          <a:xfrm>
            <a:off x="5760720" y="182880"/>
            <a:ext cx="310896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📷 ФОТО: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Лагерь на льдине,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палатка и оборудование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СП-1</a:t>
            </a:r>
            <a:endParaRPr lang="en-US" sz="1200"/>
          </a:p>
        </p:txBody>
      </p:sp>
      <p:sp>
        <p:nvSpPr>
          <p:cNvPr id="453753086" name="Shape 4"/>
          <p:cNvSpPr/>
          <p:nvPr/>
        </p:nvSpPr>
        <p:spPr bwMode="auto">
          <a:xfrm>
            <a:off x="365760" y="1417320"/>
            <a:ext cx="411480" cy="411480"/>
          </a:xfrm>
          <a:prstGeom prst="rect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01776542" name="Text 5"/>
          <p:cNvSpPr/>
          <p:nvPr/>
        </p:nvSpPr>
        <p:spPr bwMode="auto">
          <a:xfrm>
            <a:off x="3657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717684730" name="Text 6"/>
          <p:cNvSpPr/>
          <p:nvPr/>
        </p:nvSpPr>
        <p:spPr bwMode="auto">
          <a:xfrm flipH="0" flipV="0">
            <a:off x="914400" y="1435608"/>
            <a:ext cx="35232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Жили в специальной палатке — внутри −5°C даже в самые лютые морозы снаружи.</a:t>
            </a:r>
            <a:endParaRPr lang="en-US" sz="1300"/>
          </a:p>
        </p:txBody>
      </p:sp>
      <p:sp>
        <p:nvSpPr>
          <p:cNvPr id="1451721031" name="Shape 7"/>
          <p:cNvSpPr/>
          <p:nvPr/>
        </p:nvSpPr>
        <p:spPr bwMode="auto">
          <a:xfrm>
            <a:off x="365760" y="2075688"/>
            <a:ext cx="411480" cy="411480"/>
          </a:xfrm>
          <a:prstGeom prst="rect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08570250" name="Text 8"/>
          <p:cNvSpPr/>
          <p:nvPr/>
        </p:nvSpPr>
        <p:spPr bwMode="auto">
          <a:xfrm>
            <a:off x="365760" y="2075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711125185" name="Text 9"/>
          <p:cNvSpPr/>
          <p:nvPr/>
        </p:nvSpPr>
        <p:spPr bwMode="auto">
          <a:xfrm flipH="0" flipV="0">
            <a:off x="914400" y="2093976"/>
            <a:ext cx="36015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Кренкель выходил на связь с Москвой дважды в день. Страна ждала его телеграмм как сериала.</a:t>
            </a:r>
            <a:endParaRPr lang="en-US" sz="1300"/>
          </a:p>
        </p:txBody>
      </p:sp>
      <p:sp>
        <p:nvSpPr>
          <p:cNvPr id="1831075468" name="Shape 10"/>
          <p:cNvSpPr/>
          <p:nvPr/>
        </p:nvSpPr>
        <p:spPr bwMode="auto">
          <a:xfrm>
            <a:off x="365760" y="2734056"/>
            <a:ext cx="411480" cy="411480"/>
          </a:xfrm>
          <a:prstGeom prst="rect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83041992" name="Text 11"/>
          <p:cNvSpPr/>
          <p:nvPr/>
        </p:nvSpPr>
        <p:spPr bwMode="auto">
          <a:xfrm>
            <a:off x="365760" y="2734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920832653" name="Text 12"/>
          <p:cNvSpPr/>
          <p:nvPr/>
        </p:nvSpPr>
        <p:spPr bwMode="auto">
          <a:xfrm flipH="0" flipV="0">
            <a:off x="914400" y="2752343"/>
            <a:ext cx="35232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Белые медведи заглядывали в гости. Один съел научные журналы.</a:t>
            </a:r>
            <a:endParaRPr lang="en-US" sz="1300"/>
          </a:p>
        </p:txBody>
      </p:sp>
      <p:sp>
        <p:nvSpPr>
          <p:cNvPr id="242725358" name="Shape 13"/>
          <p:cNvSpPr/>
          <p:nvPr/>
        </p:nvSpPr>
        <p:spPr bwMode="auto">
          <a:xfrm>
            <a:off x="365760" y="3392424"/>
            <a:ext cx="411480" cy="411480"/>
          </a:xfrm>
          <a:prstGeom prst="rect">
            <a:avLst/>
          </a:prstGeom>
          <a:solidFill>
            <a:srgbClr val="2E86C1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46113202" name="Text 14"/>
          <p:cNvSpPr/>
          <p:nvPr/>
        </p:nvSpPr>
        <p:spPr bwMode="auto">
          <a:xfrm>
            <a:off x="36576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1600"/>
          </a:p>
        </p:txBody>
      </p:sp>
      <p:sp>
        <p:nvSpPr>
          <p:cNvPr id="1966872903" name="Text 15"/>
          <p:cNvSpPr/>
          <p:nvPr/>
        </p:nvSpPr>
        <p:spPr bwMode="auto">
          <a:xfrm flipH="0" flipV="0">
            <a:off x="914400" y="3410711"/>
            <a:ext cx="36015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FFFFFF"/>
                </a:solidFill>
              </a:rPr>
              <a:t>Льдина за 9 месяцев унесла их на 2 850 км от полюса.</a:t>
            </a:r>
            <a:endParaRPr lang="en-US" sz="1300"/>
          </a:p>
        </p:txBody>
      </p:sp>
      <p:pic>
        <p:nvPicPr>
          <p:cNvPr id="20240356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90478" y="909843"/>
            <a:ext cx="4240034" cy="3127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74567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47996308" name="Text 1"/>
          <p:cNvSpPr/>
          <p:nvPr/>
        </p:nvSpPr>
        <p:spPr bwMode="auto">
          <a:xfrm>
            <a:off x="457200" y="2743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Льдина</a:t>
            </a:r>
            <a:endParaRPr lang="en-US" sz="4400"/>
          </a:p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трескается</a:t>
            </a:r>
            <a:endParaRPr lang="en-US" sz="4400"/>
          </a:p>
        </p:txBody>
      </p:sp>
      <p:sp>
        <p:nvSpPr>
          <p:cNvPr id="658244964" name="Text 2"/>
          <p:cNvSpPr/>
          <p:nvPr/>
        </p:nvSpPr>
        <p:spPr bwMode="auto">
          <a:xfrm>
            <a:off x="45720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 i="1">
                <a:solidFill>
                  <a:srgbClr val="E74C3C"/>
                </a:solidFill>
              </a:rPr>
              <a:t>Февраль 1938 года</a:t>
            </a:r>
            <a:endParaRPr lang="en-US" sz="1600"/>
          </a:p>
        </p:txBody>
      </p:sp>
      <p:sp>
        <p:nvSpPr>
          <p:cNvPr id="556124187" name="Shape 3"/>
          <p:cNvSpPr/>
          <p:nvPr/>
        </p:nvSpPr>
        <p:spPr bwMode="auto">
          <a:xfrm>
            <a:off x="365760" y="2423160"/>
            <a:ext cx="54864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24279697" name="Text 4"/>
          <p:cNvSpPr/>
          <p:nvPr/>
        </p:nvSpPr>
        <p:spPr bwMode="auto">
          <a:xfrm>
            <a:off x="594360" y="2331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D6EAF8"/>
                </a:solidFill>
              </a:rPr>
              <a:t>Льдина, которая начиналась как поле 4 км² — сжалась до 30 метров в длину.</a:t>
            </a:r>
            <a:endParaRPr lang="en-US" sz="1300"/>
          </a:p>
        </p:txBody>
      </p:sp>
      <p:sp>
        <p:nvSpPr>
          <p:cNvPr id="50977259" name="Shape 5"/>
          <p:cNvSpPr/>
          <p:nvPr/>
        </p:nvSpPr>
        <p:spPr bwMode="auto">
          <a:xfrm>
            <a:off x="365760" y="3017519"/>
            <a:ext cx="54864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02120836" name="Text 6"/>
          <p:cNvSpPr/>
          <p:nvPr/>
        </p:nvSpPr>
        <p:spPr bwMode="auto">
          <a:xfrm>
            <a:off x="594360" y="2926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D6EAF8"/>
                </a:solidFill>
              </a:rPr>
              <a:t>Трещины проходили прямо через лагерь. Оборудование перетаскивали по ночам.</a:t>
            </a:r>
            <a:endParaRPr lang="en-US" sz="1300"/>
          </a:p>
        </p:txBody>
      </p:sp>
      <p:sp>
        <p:nvSpPr>
          <p:cNvPr id="1641808215" name="Shape 7"/>
          <p:cNvSpPr/>
          <p:nvPr/>
        </p:nvSpPr>
        <p:spPr bwMode="auto">
          <a:xfrm>
            <a:off x="365760" y="3611880"/>
            <a:ext cx="54864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56659552" name="Text 8"/>
          <p:cNvSpPr/>
          <p:nvPr/>
        </p:nvSpPr>
        <p:spPr bwMode="auto">
          <a:xfrm>
            <a:off x="594360" y="3520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D6EAF8"/>
                </a:solidFill>
              </a:rPr>
              <a:t>Москва срочно выслала корабли-ледоколы «Таймыр» и «Мурман».</a:t>
            </a:r>
            <a:endParaRPr lang="en-US" sz="1300"/>
          </a:p>
        </p:txBody>
      </p:sp>
      <p:sp>
        <p:nvSpPr>
          <p:cNvPr id="358936542" name="Shape 9"/>
          <p:cNvSpPr/>
          <p:nvPr/>
        </p:nvSpPr>
        <p:spPr bwMode="auto">
          <a:xfrm>
            <a:off x="365760" y="4206240"/>
            <a:ext cx="54864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66098402" name="Text 10"/>
          <p:cNvSpPr/>
          <p:nvPr/>
        </p:nvSpPr>
        <p:spPr bwMode="auto">
          <a:xfrm>
            <a:off x="59436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D6EAF8"/>
                </a:solidFill>
              </a:rPr>
              <a:t>Когда их сняли со льдины — под ногами оставался кусок льда размером с комнату.</a:t>
            </a:r>
            <a:endParaRPr lang="en-US" sz="1300"/>
          </a:p>
        </p:txBody>
      </p:sp>
      <p:sp>
        <p:nvSpPr>
          <p:cNvPr id="1677021790" name="Shape 11"/>
          <p:cNvSpPr/>
          <p:nvPr/>
        </p:nvSpPr>
        <p:spPr bwMode="auto">
          <a:xfrm>
            <a:off x="5943600" y="731520"/>
            <a:ext cx="2926080" cy="3657600"/>
          </a:xfrm>
          <a:prstGeom prst="rect">
            <a:avLst/>
          </a:prstGeom>
          <a:solidFill>
            <a:srgbClr val="1A5276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76303418" name="Text 12"/>
          <p:cNvSpPr/>
          <p:nvPr/>
        </p:nvSpPr>
        <p:spPr bwMode="auto">
          <a:xfrm>
            <a:off x="5943600" y="1005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 км²</a:t>
            </a:r>
            <a:endParaRPr lang="en-US" sz="4400"/>
          </a:p>
        </p:txBody>
      </p:sp>
      <p:sp>
        <p:nvSpPr>
          <p:cNvPr id="1821532242" name="Text 13"/>
          <p:cNvSpPr/>
          <p:nvPr/>
        </p:nvSpPr>
        <p:spPr bwMode="auto">
          <a:xfrm>
            <a:off x="594360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>
                <a:solidFill>
                  <a:srgbClr val="E74C3C"/>
                </a:solidFill>
              </a:rPr>
              <a:t>→</a:t>
            </a:r>
            <a:endParaRPr lang="en-US" sz="2800"/>
          </a:p>
        </p:txBody>
      </p:sp>
      <p:sp>
        <p:nvSpPr>
          <p:cNvPr id="1832980253" name="Text 14"/>
          <p:cNvSpPr/>
          <p:nvPr/>
        </p:nvSpPr>
        <p:spPr bwMode="auto">
          <a:xfrm>
            <a:off x="5943600" y="24231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E74C3C"/>
                </a:solidFill>
                <a:latin typeface="Cambria"/>
                <a:ea typeface="Cambria"/>
                <a:cs typeface="Cambria"/>
              </a:rPr>
              <a:t>30 метров</a:t>
            </a:r>
            <a:endParaRPr lang="en-US" sz="3200"/>
          </a:p>
        </p:txBody>
      </p:sp>
      <p:sp>
        <p:nvSpPr>
          <p:cNvPr id="220490056" name="Text 15"/>
          <p:cNvSpPr/>
          <p:nvPr/>
        </p:nvSpPr>
        <p:spPr bwMode="auto">
          <a:xfrm>
            <a:off x="5943600" y="32918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Размер льдины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за 9 месяцев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559011" name="Shape 0"/>
          <p:cNvSpPr/>
          <p:nvPr/>
        </p:nvSpPr>
        <p:spPr bwMode="auto">
          <a:xfrm>
            <a:off x="0" y="0"/>
            <a:ext cx="914400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756670" name="Text 1"/>
          <p:cNvSpPr/>
          <p:nvPr/>
        </p:nvSpPr>
        <p:spPr bwMode="auto">
          <a:xfrm>
            <a:off x="36576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Спасение и триумф</a:t>
            </a:r>
            <a:endParaRPr lang="en-US" sz="2800"/>
          </a:p>
        </p:txBody>
      </p:sp>
      <p:sp>
        <p:nvSpPr>
          <p:cNvPr id="1616237191" name="Text 3"/>
          <p:cNvSpPr/>
          <p:nvPr/>
        </p:nvSpPr>
        <p:spPr bwMode="auto">
          <a:xfrm>
            <a:off x="365760" y="10058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1A5276"/>
                </a:solidFill>
              </a:rPr>
              <a:t>📷 ФОТО: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1A5276"/>
                </a:solidFill>
              </a:rPr>
              <a:t>Встреча команды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1A5276"/>
                </a:solidFill>
              </a:rPr>
              <a:t>в Ленинграде /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 i="1">
                <a:solidFill>
                  <a:srgbClr val="1A5276"/>
                </a:solidFill>
              </a:rPr>
              <a:t>на борту ледокола</a:t>
            </a:r>
            <a:endParaRPr lang="en-US" sz="1200"/>
          </a:p>
        </p:txBody>
      </p:sp>
      <p:sp>
        <p:nvSpPr>
          <p:cNvPr id="841350482" name="Text 4"/>
          <p:cNvSpPr/>
          <p:nvPr/>
        </p:nvSpPr>
        <p:spPr bwMode="auto">
          <a:xfrm>
            <a:off x="4297680" y="10972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0A2342"/>
                </a:solidFill>
              </a:rPr>
              <a:t>19 февраля 1938 года.</a:t>
            </a:r>
            <a:r>
              <a:rPr lang="en-US" sz="1300">
                <a:solidFill>
                  <a:srgbClr val="1A5276"/>
                </a:solidFill>
              </a:rPr>
              <a:t>  Ледоколы добрались до льдины.</a:t>
            </a:r>
            <a:endParaRPr lang="en-US" sz="1300"/>
          </a:p>
        </p:txBody>
      </p:sp>
      <p:sp>
        <p:nvSpPr>
          <p:cNvPr id="404992372" name="Text 5"/>
          <p:cNvSpPr/>
          <p:nvPr/>
        </p:nvSpPr>
        <p:spPr bwMode="auto">
          <a:xfrm>
            <a:off x="4297680" y="2011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0A2342"/>
                </a:solidFill>
              </a:rPr>
              <a:t>Ленинград встречал их как героев.</a:t>
            </a:r>
            <a:r>
              <a:rPr lang="en-US" sz="1300">
                <a:solidFill>
                  <a:srgbClr val="1A5276"/>
                </a:solidFill>
              </a:rPr>
              <a:t>  Тысячи людей на набережной, оркестр, цветы в мороз.</a:t>
            </a:r>
            <a:endParaRPr lang="en-US" sz="1300"/>
          </a:p>
        </p:txBody>
      </p:sp>
      <p:sp>
        <p:nvSpPr>
          <p:cNvPr id="706629772" name="Text 6"/>
          <p:cNvSpPr/>
          <p:nvPr/>
        </p:nvSpPr>
        <p:spPr bwMode="auto">
          <a:xfrm>
            <a:off x="4297680" y="29260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0A2342"/>
                </a:solidFill>
              </a:rPr>
              <a:t>Все четверо стали Героями Советского Союза.</a:t>
            </a:r>
            <a:r>
              <a:rPr lang="en-US" sz="1300">
                <a:solidFill>
                  <a:srgbClr val="1A5276"/>
                </a:solidFill>
              </a:rPr>
              <a:t>  Это было второе присвоение этого звания в истории СССР.</a:t>
            </a:r>
            <a:endParaRPr lang="en-US" sz="1300"/>
          </a:p>
        </p:txBody>
      </p:sp>
      <p:sp>
        <p:nvSpPr>
          <p:cNvPr id="1961555444" name="Text 7"/>
          <p:cNvSpPr/>
          <p:nvPr/>
        </p:nvSpPr>
        <p:spPr bwMode="auto">
          <a:xfrm>
            <a:off x="4297680" y="3840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0A2342"/>
                </a:solidFill>
              </a:rPr>
              <a:t>Папанин сказал:</a:t>
            </a:r>
            <a:r>
              <a:rPr lang="en-US" sz="1300">
                <a:solidFill>
                  <a:srgbClr val="1A5276"/>
                </a:solidFill>
              </a:rPr>
              <a:t>  «Мы просто делали свою работу». Страна ему не поверила.</a:t>
            </a:r>
            <a:endParaRPr lang="en-US" sz="1300"/>
          </a:p>
        </p:txBody>
      </p:sp>
      <p:pic>
        <p:nvPicPr>
          <p:cNvPr id="14680332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5759" y="1595719"/>
            <a:ext cx="3800522" cy="2479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A234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699479" name="Text 0"/>
          <p:cNvSpPr/>
          <p:nvPr/>
        </p:nvSpPr>
        <p:spPr bwMode="auto"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Что осталось после льдины?</a:t>
            </a:r>
            <a:endParaRPr lang="en-US" sz="2600"/>
          </a:p>
        </p:txBody>
      </p:sp>
      <p:sp>
        <p:nvSpPr>
          <p:cNvPr id="2033939762" name="Shape 1"/>
          <p:cNvSpPr/>
          <p:nvPr/>
        </p:nvSpPr>
        <p:spPr bwMode="auto">
          <a:xfrm>
            <a:off x="365760" y="1097280"/>
            <a:ext cx="2651760" cy="347472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74421439" name="Text 2"/>
          <p:cNvSpPr/>
          <p:nvPr/>
        </p:nvSpPr>
        <p:spPr bwMode="auto">
          <a:xfrm>
            <a:off x="36576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39C12"/>
                </a:solidFill>
                <a:latin typeface="Cambria"/>
                <a:ea typeface="Cambria"/>
                <a:cs typeface="Cambria"/>
              </a:rPr>
              <a:t>437</a:t>
            </a:r>
            <a:endParaRPr lang="en-US" sz="4000"/>
          </a:p>
        </p:txBody>
      </p:sp>
      <p:sp>
        <p:nvSpPr>
          <p:cNvPr id="1552886520" name="Text 3"/>
          <p:cNvSpPr/>
          <p:nvPr/>
        </p:nvSpPr>
        <p:spPr bwMode="auto">
          <a:xfrm>
            <a:off x="3657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научных наблюдений</a:t>
            </a:r>
            <a:endParaRPr lang="en-US" sz="1300"/>
          </a:p>
        </p:txBody>
      </p:sp>
      <p:sp>
        <p:nvSpPr>
          <p:cNvPr id="951996723" name="Shape 4"/>
          <p:cNvSpPr/>
          <p:nvPr/>
        </p:nvSpPr>
        <p:spPr bwMode="auto">
          <a:xfrm>
            <a:off x="1005840" y="2788920"/>
            <a:ext cx="13716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20526879" name="Text 5"/>
          <p:cNvSpPr/>
          <p:nvPr/>
        </p:nvSpPr>
        <p:spPr bwMode="auto">
          <a:xfrm>
            <a:off x="45720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AED6F1"/>
                </a:solidFill>
              </a:rPr>
              <a:t>Температура, давление, магнитное поле, глубина океана — всё зафиксировано впервые.</a:t>
            </a:r>
            <a:endParaRPr lang="en-US" sz="1100"/>
          </a:p>
        </p:txBody>
      </p:sp>
      <p:sp>
        <p:nvSpPr>
          <p:cNvPr id="685682306" name="Shape 6"/>
          <p:cNvSpPr/>
          <p:nvPr/>
        </p:nvSpPr>
        <p:spPr bwMode="auto">
          <a:xfrm>
            <a:off x="3291840" y="1097280"/>
            <a:ext cx="2651760" cy="347472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25743919" name="Text 7"/>
          <p:cNvSpPr/>
          <p:nvPr/>
        </p:nvSpPr>
        <p:spPr bwMode="auto">
          <a:xfrm>
            <a:off x="329184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39C12"/>
                </a:solidFill>
                <a:latin typeface="Cambria"/>
                <a:ea typeface="Cambria"/>
                <a:cs typeface="Cambria"/>
              </a:rPr>
              <a:t>СП-1</a:t>
            </a:r>
            <a:endParaRPr lang="en-US" sz="4000"/>
          </a:p>
        </p:txBody>
      </p:sp>
      <p:sp>
        <p:nvSpPr>
          <p:cNvPr id="2069700656" name="Text 8"/>
          <p:cNvSpPr/>
          <p:nvPr/>
        </p:nvSpPr>
        <p:spPr bwMode="auto">
          <a:xfrm>
            <a:off x="32918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стала традицией</a:t>
            </a:r>
            <a:endParaRPr lang="en-US" sz="1300"/>
          </a:p>
        </p:txBody>
      </p:sp>
      <p:sp>
        <p:nvSpPr>
          <p:cNvPr id="865247027" name="Shape 9"/>
          <p:cNvSpPr/>
          <p:nvPr/>
        </p:nvSpPr>
        <p:spPr bwMode="auto">
          <a:xfrm>
            <a:off x="3931920" y="2788920"/>
            <a:ext cx="13716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16917188" name="Text 10"/>
          <p:cNvSpPr/>
          <p:nvPr/>
        </p:nvSpPr>
        <p:spPr bwMode="auto">
          <a:xfrm>
            <a:off x="338328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AED6F1"/>
                </a:solidFill>
              </a:rPr>
              <a:t>СССР запустил ещё 31 дрейфующую станцию. Последняя работала в 1991 году.</a:t>
            </a:r>
            <a:endParaRPr lang="en-US" sz="1100"/>
          </a:p>
        </p:txBody>
      </p:sp>
      <p:sp>
        <p:nvSpPr>
          <p:cNvPr id="542695045" name="Shape 11"/>
          <p:cNvSpPr/>
          <p:nvPr/>
        </p:nvSpPr>
        <p:spPr bwMode="auto">
          <a:xfrm>
            <a:off x="6217920" y="1097280"/>
            <a:ext cx="2651760" cy="347472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32428629" name="Text 12"/>
          <p:cNvSpPr/>
          <p:nvPr/>
        </p:nvSpPr>
        <p:spPr bwMode="auto">
          <a:xfrm>
            <a:off x="621792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39C12"/>
                </a:solidFill>
                <a:latin typeface="Cambria"/>
                <a:ea typeface="Cambria"/>
                <a:cs typeface="Cambria"/>
              </a:rPr>
              <a:t>Папанин</a:t>
            </a:r>
            <a:endParaRPr lang="en-US" sz="4000"/>
          </a:p>
        </p:txBody>
      </p:sp>
      <p:sp>
        <p:nvSpPr>
          <p:cNvPr id="920220708" name="Text 13"/>
          <p:cNvSpPr/>
          <p:nvPr/>
        </p:nvSpPr>
        <p:spPr bwMode="auto">
          <a:xfrm>
            <a:off x="621792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</a:rPr>
              <a:t>прожил 92 года</a:t>
            </a:r>
            <a:endParaRPr lang="en-US" sz="1300"/>
          </a:p>
        </p:txBody>
      </p:sp>
      <p:sp>
        <p:nvSpPr>
          <p:cNvPr id="1807630459" name="Shape 14"/>
          <p:cNvSpPr/>
          <p:nvPr/>
        </p:nvSpPr>
        <p:spPr bwMode="auto">
          <a:xfrm>
            <a:off x="6858000" y="2788920"/>
            <a:ext cx="13716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74011692" name="Text 15"/>
          <p:cNvSpPr/>
          <p:nvPr/>
        </p:nvSpPr>
        <p:spPr bwMode="auto">
          <a:xfrm>
            <a:off x="630936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AED6F1"/>
                </a:solidFill>
              </a:rPr>
              <a:t>Дожил до распада СССР. До конца занимался полярными экспедициями.</a:t>
            </a:r>
            <a:endParaRPr lang="en-US" sz="1100"/>
          </a:p>
        </p:txBody>
      </p:sp>
      <p:sp>
        <p:nvSpPr>
          <p:cNvPr id="598079798" name="Text 16"/>
          <p:cNvSpPr/>
          <p:nvPr/>
        </p:nvSpPr>
        <p:spPr bwMode="auto"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i="1">
                <a:solidFill>
                  <a:srgbClr val="AED6F1"/>
                </a:solidFill>
              </a:rPr>
              <a:t>История о том, как четыре человека жили там, где выжить невозможно — и делали это с записными книжками в руках.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2026-05-15T08:47:23Z</dcterms:created>
  <dcterms:modified xsi:type="dcterms:W3CDTF">2026-05-15T09:35:50Z</dcterms:modified>
</cp:coreProperties>
</file>