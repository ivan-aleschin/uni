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9226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803174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05059890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4235934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146143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9159598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273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6956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4852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379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2313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1567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008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0269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0176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38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289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7558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69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909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9999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9383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56589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1732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B433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368868" name="Text 0"/>
          <p:cNvSpPr/>
          <p:nvPr/>
        </p:nvSpPr>
        <p:spPr bwMode="auto">
          <a:xfrm>
            <a:off x="457200" y="7315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Академгородок</a:t>
            </a:r>
            <a:endParaRPr lang="en-US" sz="3600"/>
          </a:p>
        </p:txBody>
      </p:sp>
      <p:sp>
        <p:nvSpPr>
          <p:cNvPr id="675613036" name="Text 1"/>
          <p:cNvSpPr/>
          <p:nvPr/>
        </p:nvSpPr>
        <p:spPr bwMode="auto">
          <a:xfrm>
            <a:off x="457200" y="20116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i="1">
                <a:solidFill>
                  <a:srgbClr val="52B788"/>
                </a:solidFill>
                <a:latin typeface="Calibri"/>
                <a:ea typeface="Calibri"/>
                <a:cs typeface="Calibri"/>
              </a:rPr>
              <a:t>Советский </a:t>
            </a:r>
            <a:r>
              <a:rPr lang="ru-RU" sz="2200" i="1">
                <a:solidFill>
                  <a:srgbClr val="52B788"/>
                </a:solidFill>
                <a:latin typeface="Calibri"/>
                <a:ea typeface="Calibri"/>
                <a:cs typeface="Calibri"/>
              </a:rPr>
              <a:t>Лос-Аламос</a:t>
            </a:r>
            <a:endParaRPr lang="en-US" sz="2200"/>
          </a:p>
          <a:p>
            <a:pPr marL="0" indent="0">
              <a:buNone/>
              <a:defRPr/>
            </a:pPr>
            <a:r>
              <a:rPr lang="en-US" sz="2200" i="1">
                <a:solidFill>
                  <a:srgbClr val="52B788"/>
                </a:solidFill>
                <a:latin typeface="Calibri"/>
                <a:ea typeface="Calibri"/>
                <a:cs typeface="Calibri"/>
              </a:rPr>
              <a:t>в сибирской тайге</a:t>
            </a:r>
            <a:endParaRPr lang="en-US" sz="2200"/>
          </a:p>
        </p:txBody>
      </p:sp>
      <p:sp>
        <p:nvSpPr>
          <p:cNvPr id="1109865609" name="Text 2"/>
          <p:cNvSpPr/>
          <p:nvPr/>
        </p:nvSpPr>
        <p:spPr bwMode="auto">
          <a:xfrm>
            <a:off x="4572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A7A65"/>
                </a:solidFill>
                <a:latin typeface="Calibri"/>
                <a:ea typeface="Calibri"/>
                <a:cs typeface="Calibri"/>
              </a:rPr>
              <a:t>История России · 1957–наши дни</a:t>
            </a:r>
            <a:endParaRPr lang="en-US" sz="1300"/>
          </a:p>
        </p:txBody>
      </p:sp>
      <p:sp>
        <p:nvSpPr>
          <p:cNvPr id="1137039765" name="Text 4"/>
          <p:cNvSpPr/>
          <p:nvPr/>
        </p:nvSpPr>
        <p:spPr bwMode="auto">
          <a:xfrm>
            <a:off x="566928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9E7E"/>
                </a:solidFill>
              </a:rPr>
              <a:t>📷 Аэроснимок Аaкадемгородка, 1960-е гг.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6B9E7E"/>
                </a:solidFill>
              </a:rPr>
              <a:t>(рядом кадр из фильма «Оппенгеймер», 2023)</a:t>
            </a:r>
            <a:endParaRPr lang="en-US" sz="1000"/>
          </a:p>
        </p:txBody>
      </p:sp>
      <p:pic>
        <p:nvPicPr>
          <p:cNvPr id="12585419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68077" y="1116479"/>
            <a:ext cx="4348506" cy="2887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0FA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522939" name="Text 0"/>
          <p:cNvSpPr/>
          <p:nvPr/>
        </p:nvSpPr>
        <p:spPr bwMode="auto"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1957: холодная война и гонка умов</a:t>
            </a:r>
            <a:endParaRPr lang="en-US" sz="3000"/>
          </a:p>
        </p:txBody>
      </p:sp>
      <p:sp>
        <p:nvSpPr>
          <p:cNvPr id="1690334354" name="Text 1"/>
          <p:cNvSpPr/>
          <p:nvPr/>
        </p:nvSpPr>
        <p:spPr bwMode="auto">
          <a:xfrm>
            <a:off x="457200" y="11887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СССР только что запустил Спутник — мир потрясён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Нужна наука: много, быстро и без бюрократии Москвы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Математик Лаврентьев предлагает Хрущёву смелую идею: вывезти лучших учёных в Сибирь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Хрущёв даёт добро за один разговор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Идея: если изолировать умных людей и дать им свободу — наука сама вырастет</a:t>
            </a:r>
            <a:endParaRPr lang="en-US" sz="1500"/>
          </a:p>
        </p:txBody>
      </p:sp>
      <p:sp>
        <p:nvSpPr>
          <p:cNvPr id="875514535" name="Shape 2"/>
          <p:cNvSpPr/>
          <p:nvPr/>
        </p:nvSpPr>
        <p:spPr bwMode="auto">
          <a:xfrm>
            <a:off x="5760720" y="1005840"/>
            <a:ext cx="3017519" cy="3474720"/>
          </a:xfrm>
          <a:prstGeom prst="rect">
            <a:avLst/>
          </a:prstGeom>
          <a:solidFill>
            <a:srgbClr val="E0EDE5"/>
          </a:solidFill>
          <a:ln w="19050">
            <a:solidFill>
              <a:srgbClr val="95BFA7"/>
            </a:solidFill>
            <a:prstDash val="dash"/>
          </a:ln>
        </p:spPr>
      </p:sp>
      <p:sp>
        <p:nvSpPr>
          <p:cNvPr id="1191922721" name="Text 3"/>
          <p:cNvSpPr/>
          <p:nvPr/>
        </p:nvSpPr>
        <p:spPr bwMode="auto">
          <a:xfrm>
            <a:off x="5760720" y="1005840"/>
            <a:ext cx="3017519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9E7E"/>
                </a:solidFill>
              </a:rPr>
              <a:t>📷 Фото: Спутник-1 / портрет Лаврентьева и Хрущёва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6B9E7E"/>
                </a:solidFill>
              </a:rPr>
              <a:t>(архивное, 1957 г.)</a:t>
            </a:r>
            <a:endParaRPr lang="en-US" sz="1000"/>
          </a:p>
        </p:txBody>
      </p:sp>
      <p:pic>
        <p:nvPicPr>
          <p:cNvPr id="2043264024" name=""/>
          <p:cNvPicPr>
            <a:picLocks noChangeAspect="1"/>
          </p:cNvPicPr>
          <p:nvPr/>
        </p:nvPicPr>
        <p:blipFill rotWithShape="1">
          <a:blip r:embed="rId3"/>
          <a:srcRect l="0" t="7176" r="0" b="24045"/>
        </p:blipFill>
        <p:spPr bwMode="auto">
          <a:xfrm flipH="0" flipV="0">
            <a:off x="5561191" y="1005840"/>
            <a:ext cx="3416576" cy="3689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935030" name="Text 0"/>
          <p:cNvSpPr/>
          <p:nvPr/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Город в тайге — с нуля</a:t>
            </a:r>
            <a:endParaRPr lang="en-US" sz="3000"/>
          </a:p>
        </p:txBody>
      </p:sp>
      <p:sp>
        <p:nvSpPr>
          <p:cNvPr id="1019793951" name="Shape 1"/>
          <p:cNvSpPr/>
          <p:nvPr/>
        </p:nvSpPr>
        <p:spPr bwMode="auto">
          <a:xfrm>
            <a:off x="365760" y="1143000"/>
            <a:ext cx="1920240" cy="17373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02571396" name="Text 2"/>
          <p:cNvSpPr/>
          <p:nvPr/>
        </p:nvSpPr>
        <p:spPr bwMode="auto">
          <a:xfrm>
            <a:off x="365760" y="12344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52B788"/>
                </a:solidFill>
                <a:latin typeface="Georgia"/>
                <a:ea typeface="Georgia"/>
                <a:cs typeface="Georgia"/>
              </a:rPr>
              <a:t>25 км</a:t>
            </a:r>
            <a:endParaRPr lang="en-US" sz="2800"/>
          </a:p>
        </p:txBody>
      </p:sp>
      <p:sp>
        <p:nvSpPr>
          <p:cNvPr id="482008622" name="Text 3"/>
          <p:cNvSpPr/>
          <p:nvPr/>
        </p:nvSpPr>
        <p:spPr bwMode="auto">
          <a:xfrm>
            <a:off x="365760" y="19659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от Новосибирска,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посреди тайги</a:t>
            </a:r>
            <a:endParaRPr lang="en-US" sz="1200"/>
          </a:p>
        </p:txBody>
      </p:sp>
      <p:sp>
        <p:nvSpPr>
          <p:cNvPr id="935835540" name="Shape 4"/>
          <p:cNvSpPr/>
          <p:nvPr/>
        </p:nvSpPr>
        <p:spPr bwMode="auto">
          <a:xfrm>
            <a:off x="2468880" y="1143000"/>
            <a:ext cx="1920240" cy="17373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9832248" name="Text 5"/>
          <p:cNvSpPr/>
          <p:nvPr/>
        </p:nvSpPr>
        <p:spPr bwMode="auto">
          <a:xfrm>
            <a:off x="2468880" y="12344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52B788"/>
                </a:solidFill>
                <a:latin typeface="Georgia"/>
                <a:ea typeface="Georgia"/>
                <a:cs typeface="Georgia"/>
              </a:rPr>
              <a:t>20+</a:t>
            </a:r>
            <a:endParaRPr lang="en-US" sz="2800"/>
          </a:p>
        </p:txBody>
      </p:sp>
      <p:sp>
        <p:nvSpPr>
          <p:cNvPr id="160045004" name="Text 6"/>
          <p:cNvSpPr/>
          <p:nvPr/>
        </p:nvSpPr>
        <p:spPr bwMode="auto">
          <a:xfrm>
            <a:off x="2468880" y="19659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научных институтов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 нуля</a:t>
            </a:r>
            <a:endParaRPr lang="en-US" sz="1200"/>
          </a:p>
        </p:txBody>
      </p:sp>
      <p:sp>
        <p:nvSpPr>
          <p:cNvPr id="1963884720" name="Shape 7"/>
          <p:cNvSpPr/>
          <p:nvPr/>
        </p:nvSpPr>
        <p:spPr bwMode="auto">
          <a:xfrm>
            <a:off x="365759" y="3047999"/>
            <a:ext cx="1920240" cy="17373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68485004" name="Text 8"/>
          <p:cNvSpPr/>
          <p:nvPr/>
        </p:nvSpPr>
        <p:spPr bwMode="auto">
          <a:xfrm>
            <a:off x="365759" y="3139439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52B788"/>
                </a:solidFill>
                <a:latin typeface="Georgia"/>
                <a:ea typeface="Georgia"/>
                <a:cs typeface="Georgia"/>
              </a:rPr>
              <a:t>34</a:t>
            </a:r>
            <a:endParaRPr lang="en-US" sz="2800"/>
          </a:p>
        </p:txBody>
      </p:sp>
      <p:sp>
        <p:nvSpPr>
          <p:cNvPr id="1692958915" name="Text 9"/>
          <p:cNvSpPr/>
          <p:nvPr/>
        </p:nvSpPr>
        <p:spPr bwMode="auto">
          <a:xfrm>
            <a:off x="365759" y="3870959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средний возраст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учёных при основании</a:t>
            </a:r>
            <a:endParaRPr lang="en-US" sz="1200"/>
          </a:p>
        </p:txBody>
      </p:sp>
      <p:sp>
        <p:nvSpPr>
          <p:cNvPr id="928068368" name="Shape 10"/>
          <p:cNvSpPr/>
          <p:nvPr/>
        </p:nvSpPr>
        <p:spPr bwMode="auto">
          <a:xfrm>
            <a:off x="2468879" y="3047999"/>
            <a:ext cx="1920240" cy="17373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67067846" name="Text 11"/>
          <p:cNvSpPr/>
          <p:nvPr/>
        </p:nvSpPr>
        <p:spPr bwMode="auto">
          <a:xfrm>
            <a:off x="2468879" y="3139439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52B788"/>
                </a:solidFill>
                <a:latin typeface="Georgia"/>
                <a:ea typeface="Georgia"/>
                <a:cs typeface="Georgia"/>
              </a:rPr>
              <a:t>35 000</a:t>
            </a:r>
            <a:endParaRPr lang="en-US" sz="2800"/>
          </a:p>
        </p:txBody>
      </p:sp>
      <p:sp>
        <p:nvSpPr>
          <p:cNvPr id="1019441597" name="Text 12"/>
          <p:cNvSpPr/>
          <p:nvPr/>
        </p:nvSpPr>
        <p:spPr bwMode="auto">
          <a:xfrm>
            <a:off x="2468879" y="3870959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жителей к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середине 1960-х</a:t>
            </a:r>
            <a:endParaRPr lang="en-US" sz="1200"/>
          </a:p>
        </p:txBody>
      </p:sp>
      <p:pic>
        <p:nvPicPr>
          <p:cNvPr id="137536307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72000" y="1089171"/>
            <a:ext cx="4417753" cy="35823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0FA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11379" name="Text 0"/>
          <p:cNvSpPr/>
          <p:nvPr/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Жизнь внутри: пузырь особой свободы</a:t>
            </a:r>
            <a:endParaRPr lang="en-US" sz="3000"/>
          </a:p>
        </p:txBody>
      </p:sp>
      <p:sp>
        <p:nvSpPr>
          <p:cNvPr id="1793075791" name="Shape 1"/>
          <p:cNvSpPr/>
          <p:nvPr/>
        </p:nvSpPr>
        <p:spPr bwMode="auto">
          <a:xfrm>
            <a:off x="5303520" y="1005840"/>
            <a:ext cx="3474720" cy="2926080"/>
          </a:xfrm>
          <a:prstGeom prst="rect">
            <a:avLst/>
          </a:prstGeom>
          <a:solidFill>
            <a:srgbClr val="E0EDE5"/>
          </a:solidFill>
          <a:ln w="19050">
            <a:solidFill>
              <a:srgbClr val="95BFA7"/>
            </a:solidFill>
            <a:prstDash val="dash"/>
          </a:ln>
        </p:spPr>
      </p:sp>
      <p:sp>
        <p:nvSpPr>
          <p:cNvPr id="1209699719" name="Text 2"/>
          <p:cNvSpPr/>
          <p:nvPr/>
        </p:nvSpPr>
        <p:spPr bwMode="auto">
          <a:xfrm>
            <a:off x="5303520" y="10058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9E7E"/>
                </a:solidFill>
              </a:rPr>
              <a:t>📷 Фото: Кафе «Под интегралом» / джазовый вечер в Академгородке, 1960-е</a:t>
            </a:r>
            <a:endParaRPr lang="en-US" sz="1000"/>
          </a:p>
        </p:txBody>
      </p:sp>
      <p:sp>
        <p:nvSpPr>
          <p:cNvPr id="1399481177" name="Text 3"/>
          <p:cNvSpPr/>
          <p:nvPr/>
        </p:nvSpPr>
        <p:spPr bwMode="auto">
          <a:xfrm flipH="0" flipV="0">
            <a:off x="457199" y="1097280"/>
            <a:ext cx="39712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Джазовые концерты и поэтические вечера — то, чего не было в остальном СССР</a:t>
            </a:r>
            <a:endParaRPr lang="en-US" sz="1400"/>
          </a:p>
        </p:txBody>
      </p:sp>
      <p:sp>
        <p:nvSpPr>
          <p:cNvPr id="584097362" name="Text 4"/>
          <p:cNvSpPr/>
          <p:nvPr/>
        </p:nvSpPr>
        <p:spPr bwMode="auto">
          <a:xfrm flipH="0" flipV="0">
            <a:off x="457199" y="1847088"/>
            <a:ext cx="39712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Самиздат и свободные дискуссии — норма, а не исключение</a:t>
            </a:r>
            <a:endParaRPr lang="en-US" sz="1400"/>
          </a:p>
        </p:txBody>
      </p:sp>
      <p:sp>
        <p:nvSpPr>
          <p:cNvPr id="2065615356" name="Text 5"/>
          <p:cNvSpPr/>
          <p:nvPr/>
        </p:nvSpPr>
        <p:spPr bwMode="auto">
          <a:xfrm flipH="0" flipV="0">
            <a:off x="457199" y="2596895"/>
            <a:ext cx="39712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«Кафе под интегралом» — центр интеллектуальной жизни города</a:t>
            </a:r>
            <a:endParaRPr lang="en-US" sz="1400"/>
          </a:p>
        </p:txBody>
      </p:sp>
      <p:sp>
        <p:nvSpPr>
          <p:cNvPr id="996287627" name="Text 6"/>
          <p:cNvSpPr/>
          <p:nvPr/>
        </p:nvSpPr>
        <p:spPr bwMode="auto">
          <a:xfrm flipH="0" flipV="0">
            <a:off x="457199" y="3346703"/>
            <a:ext cx="39712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1968 год: 46 учёных подписали письмо в защиту диссидентов — беспрецедентно</a:t>
            </a:r>
            <a:endParaRPr lang="en-US" sz="1400"/>
          </a:p>
        </p:txBody>
      </p:sp>
      <p:sp>
        <p:nvSpPr>
          <p:cNvPr id="1607478874" name="Text 7"/>
          <p:cNvSpPr/>
          <p:nvPr/>
        </p:nvSpPr>
        <p:spPr bwMode="auto"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Государство создало пространство свободы, не вполне осознав это</a:t>
            </a:r>
            <a:endParaRPr lang="en-US" sz="1400"/>
          </a:p>
        </p:txBody>
      </p:sp>
      <p:pic>
        <p:nvPicPr>
          <p:cNvPr id="9875764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72000" y="960120"/>
            <a:ext cx="4473815" cy="3072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787613" name="Text 0"/>
          <p:cNvSpPr/>
          <p:nvPr/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Что реально сделали</a:t>
            </a:r>
            <a:endParaRPr lang="en-US" sz="3000"/>
          </a:p>
        </p:txBody>
      </p:sp>
      <p:sp>
        <p:nvSpPr>
          <p:cNvPr id="2058680014" name="Shape 1"/>
          <p:cNvSpPr/>
          <p:nvPr/>
        </p:nvSpPr>
        <p:spPr bwMode="auto">
          <a:xfrm>
            <a:off x="457200" y="1005840"/>
            <a:ext cx="3474720" cy="2926080"/>
          </a:xfrm>
          <a:prstGeom prst="rect">
            <a:avLst/>
          </a:prstGeom>
          <a:solidFill>
            <a:srgbClr val="E0EDE5"/>
          </a:solidFill>
          <a:ln w="19050">
            <a:solidFill>
              <a:srgbClr val="95BFA7"/>
            </a:solidFill>
            <a:prstDash val="dash"/>
          </a:ln>
        </p:spPr>
      </p:sp>
      <p:sp>
        <p:nvSpPr>
          <p:cNvPr id="564403971" name="Text 2"/>
          <p:cNvSpPr/>
          <p:nvPr/>
        </p:nvSpPr>
        <p:spPr bwMode="auto">
          <a:xfrm>
            <a:off x="457200" y="10058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9E7E"/>
                </a:solidFill>
              </a:rPr>
              <a:t>📷 Фото: учёные в лаборатории Вычислительного центра СО АН СССР, 1960-е</a:t>
            </a:r>
            <a:endParaRPr lang="en-US" sz="1000"/>
          </a:p>
        </p:txBody>
      </p:sp>
      <p:sp>
        <p:nvSpPr>
          <p:cNvPr id="53544352" name="Text 3"/>
          <p:cNvSpPr/>
          <p:nvPr/>
        </p:nvSpPr>
        <p:spPr bwMode="auto">
          <a:xfrm>
            <a:off x="4297680" y="100584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Мировые открытия в математике, физике, химии и биологии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Будущие нобелевские лауреаты работали здесь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Один из первых в СССР вычислительных центров — прообраз ИТ-кластера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Физматшкола №165: отбор одарённых детей со всей Сибири — работает до сих пор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Результаты исследований регулярно выходили в международных журналах</a:t>
            </a:r>
            <a:endParaRPr lang="en-US" sz="1500"/>
          </a:p>
        </p:txBody>
      </p:sp>
      <p:sp>
        <p:nvSpPr>
          <p:cNvPr id="628179359" name="Text 4"/>
          <p:cNvSpPr/>
          <p:nvPr/>
        </p:nvSpPr>
        <p:spPr bwMode="auto"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Концентрация умных людей в одном месте — работает</a:t>
            </a:r>
            <a:endParaRPr lang="en-US" sz="1400"/>
          </a:p>
        </p:txBody>
      </p:sp>
      <p:pic>
        <p:nvPicPr>
          <p:cNvPr id="13572055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0725" y="993175"/>
            <a:ext cx="3792774" cy="3179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1B433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731431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Наследие</a:t>
            </a:r>
            <a:endParaRPr lang="en-US" sz="3000"/>
          </a:p>
        </p:txBody>
      </p:sp>
      <p:sp>
        <p:nvSpPr>
          <p:cNvPr id="232063509" name="Text 1"/>
          <p:cNvSpPr/>
          <p:nvPr/>
        </p:nvSpPr>
        <p:spPr bwMode="auto">
          <a:xfrm flipH="0" flipV="0">
            <a:off x="457200" y="1097280"/>
            <a:ext cx="3179771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После 1968 вольности начали постепенно ограничивать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1990-е: финансирование рухнуло, часть учёных уехала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Но город существует — ~65 000 жителей, институты работают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 2000-х — активное развитие как технопарка и ИТ-кластера</a:t>
            </a:r>
            <a:endParaRPr lang="en-US" sz="1500"/>
          </a:p>
        </p:txBody>
      </p:sp>
      <p:sp>
        <p:nvSpPr>
          <p:cNvPr id="726398734" name="Shape 2"/>
          <p:cNvSpPr/>
          <p:nvPr/>
        </p:nvSpPr>
        <p:spPr bwMode="auto">
          <a:xfrm>
            <a:off x="5486400" y="1005840"/>
            <a:ext cx="3291840" cy="2560320"/>
          </a:xfrm>
          <a:prstGeom prst="rect">
            <a:avLst/>
          </a:prstGeom>
          <a:solidFill>
            <a:srgbClr val="E0EDE5"/>
          </a:solidFill>
          <a:ln w="19050">
            <a:solidFill>
              <a:srgbClr val="95BFA7"/>
            </a:solidFill>
            <a:prstDash val="dash"/>
          </a:ln>
        </p:spPr>
      </p:sp>
      <p:sp>
        <p:nvSpPr>
          <p:cNvPr id="1456271709" name="Text 3"/>
          <p:cNvSpPr/>
          <p:nvPr/>
        </p:nvSpPr>
        <p:spPr bwMode="auto">
          <a:xfrm>
            <a:off x="5486400" y="10058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9E7E"/>
                </a:solidFill>
              </a:rPr>
              <a:t>📷 Фото: современный Академгородок / технопарк Новосибирск (наши дни)</a:t>
            </a:r>
            <a:endParaRPr lang="en-US" sz="1000"/>
          </a:p>
        </p:txBody>
      </p:sp>
      <p:sp>
        <p:nvSpPr>
          <p:cNvPr id="122028436" name="Shape 4"/>
          <p:cNvSpPr/>
          <p:nvPr/>
        </p:nvSpPr>
        <p:spPr bwMode="auto">
          <a:xfrm>
            <a:off x="457200" y="3794760"/>
            <a:ext cx="8229600" cy="9144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54488495" name="Text 5"/>
          <p:cNvSpPr/>
          <p:nvPr/>
        </p:nvSpPr>
        <p:spPr bwMode="auto"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Академгородок доказал: когда умным людям дают место и условия — наука растёт сама.</a:t>
            </a:r>
            <a:endParaRPr lang="en-US" sz="1500"/>
          </a:p>
        </p:txBody>
      </p:sp>
      <p:pic>
        <p:nvPicPr>
          <p:cNvPr id="90545474" name=""/>
          <p:cNvPicPr>
            <a:picLocks noChangeAspect="1"/>
          </p:cNvPicPr>
          <p:nvPr/>
        </p:nvPicPr>
        <p:blipFill rotWithShape="1">
          <a:blip r:embed="rId3"/>
          <a:srcRect l="9553" t="0" r="13949" b="0"/>
        </p:blipFill>
        <p:spPr bwMode="auto">
          <a:xfrm flipH="0" flipV="0">
            <a:off x="3636971" y="883216"/>
            <a:ext cx="5417949" cy="280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Академгородок</dc:title>
  <dc:subject>PptxGenJS Presentation</dc:subject>
  <dc:creator>PptxGenJS</dc:creator>
  <cp:lastModifiedBy/>
  <cp:revision>2</cp:revision>
  <dcterms:created xsi:type="dcterms:W3CDTF">2026-05-21T19:44:17Z</dcterms:created>
  <dcterms:modified xsi:type="dcterms:W3CDTF">2026-05-22T09:45:22Z</dcterms:modified>
</cp:coreProperties>
</file>